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101" y="1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86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day, examiners. Today I present my DCIT 316 individual research project: 'Can We Trust the Confidence? Per-Class Calibration of Twi and Hausa Hate-Speech Classifiers Under Class Imbalance'. In content moderation, models don't just output labels—they output confidence scores that drive human review triage. This project investigates whether model confidence can be trusted equally across classes in low-resource African languages, and demonstrates how standard post-hoc calibration methods can silently fail the minority class.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does confidence matter? In real-world content moderation, automated classifiers act as triage filters. Posts predicted with high confidence are actioned automatically, while uncertain cases go to human reviewers. If a model is miscalibrated and produces high-confidence errors, it introduces 'moderator blinding': the tool actively routes errors away from the reviewers who need to catch them. In African languages, this risks either silencing harmless civic discourse or letting hate speech spread undetected.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structure the investigation around three precise research questions. First: Is confidence trustworthy across classes, or does minority status destroy calibration? Second: Does standard temperature scaling fix minority calibration, or only the aggregate? Third: Does the worst-calibrated class follow the rare class when we compare Twi against Hausa? By leveraging the natural experiment where class distributions invert between Twi and Hausa, we isolate the effect of class imbalance on confidence calibration.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work sits at the intersection of four foundational literatures. Guo et al. in 2017 established modern calibration measurement, defining ECE and temperature scaling. Ahuja et al. in 2022 showed that multilingual models suffer severe calibration degradation on low-resource languages. Islam et al. in 2021 proved mathematically that single-scalar temperature scaling fails under severe class imbalance. Finally, Muhammad et al. at NAACL 2025 introduced AfriHate, the first native-annotated dataset covering Twi and Hausa.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building models, we ran Step 0 verification checks directly on the data. We confirmed label strings are Abuse, Hate, and Normal, and verified that all test cells exceed the minimum sample threshold of 30. As seen in Figure 1, Twi and Hausa offer an ideal natural experiment: Twi is 70.5% Abuse with rare Normal speech, while Hausa is 56.7% Normal with rare Hate speech. This inverted distribution allows us to test whether calibration tracks the minority class or the majority.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methodology combines three core technical pillars. First, we use word and character n-gram TF-IDF concatenated with balanced logistic regression. Character n-grams are critical for African languages due to rich morphology and informal code-switching. Second, we measure calibration using equal-mass binning. Standard equal-width bins collapse on imbalanced data; equal-mass binning guarantees each bin contains 10% of the sample, coupled with 1,000 bootstrap iterations for 95% confidence intervals. Third, we define the 'blinding quantity'—the percentage of errors made at high confidence that would bypass triage.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at classification performance, Hausa achieves a respectable Macro-F1 of 0.74, while Twi languishes at 0.59. The critical vulnerability is Twi's Normal class: recall is just 0.14. As the confusion matrix in Figure 2 demonstrates, 86% of innocent Twi posts are misclassified as either Abuse or Hate. The question is: how confident is the model when it makes these misclassifications?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Table 2 presents per-class Expected Calibration Error with 95% bootstrap confidence intervals. First, Twi calibration is twice as bad as Hausa (0.077 vs 0.038). Second, we discovered a surprising paradox: in both languages, the dominant class carries the highest calibration error. Because the model sees so many majority examples, it learns to output high confidence scores that outstrip its empirical accuracy. Meanwhile, minority predictions are hedged.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contains the central empirical discovery of our project: 'The Calibration Trap'. When we apply temperature scaling, overall ECE on Twi drops from 0.077 to 0.065. It looks like a win. However, looking at the per-class breakdown reveals a critical failure: Normal class calibration degrades by +42%, with ECE increasing from 0.064 to 0.091! Because validation loss is dominated by majority Abuse instances, the optimizer sharpens logits to please the majority. This makes the model substantially MORE overconfident when it falsely censors innocent Ghanaian speech. An aggregate ECE metric completely hides this regression.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10, we connect calibration directly to operational triage risk via the 'blinding rate'. For Twi Normal, 39.6% of errors occur at high confidence (&gt;= 0.70). That means 36 innocent Ghanaian posts would be automatically censored without human scrutiny. Furthermore, our error analysis uncovered a remarkable symmetry: exactly 18 Normal posts were confidently mislabeled as Hate, and 18 as Abuse. The classifier has completely failed to learn a coherent representation of normal Twi speech.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11, we explore the risk-coverage trade-off for deploying these models in a triage queue. At threshold 0.70, platforms can automate roughly 74% of Twi and 62% of Hausa content. However, that efficiency comes at the cost of hiding 51 Twi errors and 67 Hausa errors. At threshold 0.90, Hausa achieves 98.2% precision with only 3 hidden errors, proving that Hausa's high-confidence tier is far more reliable than Twi's.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Ethics and responsible AI are core requirements of DCIT 316. First, we strictly adhere to zero raw data redistribution: no tweet text appears anywhere in the repo or presentation. Second, we explicitly designate these models as diagnostic instruments; they must never be deployed in production. Third, we acknowledge that AfriHate's class distribution reflects keyword sampling, not societal prevalence. Finally, all AI assistance in code scaffolding and drafting was independently verified against deterministic code runs.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Slide 13, we candidly address the study's limitations and scientific scope. First, we documented a formal scope reduction: the AfroXLMR transformer was omitted due to local CPU compute constraints, focusing our analysis rigorously on the classical baseline. Second, small test cells in Twi yield wide bootstrap confidence intervals, meaning rank orders should be treated carefully. Third, our findings prove that single-scalar temperature scaling is structurally insufficient for imbalanced data. Finally, while dominant classes carried higher ECE, rare classes carry much higher real-world triage harm.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conclusion, our research offers three clear recommendations for responsible NLP engineering. First: Never rely on aggregate ECE. Second: Always validate post-hoc recalibration per class. Third: Quantify and surface moderator blinding rates so human reviewers know their residual risk. Thank you for your time and attention. I am now ready for the examination questions and oral defence.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15-Oct-26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15-Oct-26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15-Oct-26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15-Oct-26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15-Oct-26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15-Oct-26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15-Oct-26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15-Oct-26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15-Oct-26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solidFill>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58952" y="722376"/>
            <a:ext cx="10698480" cy="1463040"/>
          </a:xfrm>
          <a:prstGeom prst="rect">
            <a:avLst/>
          </a:prstGeom>
          <a:noFill/>
        </p:spPr>
        <p:txBody>
          <a:bodyPr wrap="square">
            <a:spAutoFit/>
          </a:bodyPr>
          <a:lstStyle/>
          <a:p>
            <a:pPr>
              <a:defRPr sz="3600" b="1">
                <a:solidFill>
                  <a:srgbClr val="FFFFFF"/>
                </a:solidFill>
              </a:defRPr>
            </a:pPr>
            <a:r>
              <a:rPr dirty="0"/>
              <a:t>Can We Trust the Confidence?</a:t>
            </a:r>
          </a:p>
          <a:p>
            <a:pPr>
              <a:spcBef>
                <a:spcPts val="800"/>
              </a:spcBef>
              <a:defRPr sz="2000">
                <a:solidFill>
                  <a:srgbClr val="94A3B8"/>
                </a:solidFill>
              </a:defRPr>
            </a:pPr>
            <a:r>
              <a:rPr dirty="0"/>
              <a:t>Per-Class Calibration of Twi and Hausa Hate-Speech Classifiers Under Class Imbalance</a:t>
            </a:r>
          </a:p>
        </p:txBody>
      </p:sp>
      <p:sp>
        <p:nvSpPr>
          <p:cNvPr id="6" name="Rectangle 5"/>
          <p:cNvSpPr/>
          <p:nvPr/>
        </p:nvSpPr>
        <p:spPr>
          <a:xfrm>
            <a:off x="731520" y="3291840"/>
            <a:ext cx="2578608" cy="1645920"/>
          </a:xfrm>
          <a:prstGeom prst="rect">
            <a:avLst/>
          </a:prstGeom>
          <a:solidFill>
            <a:srgbClr val="1E3A8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000" b="1">
                <a:solidFill>
                  <a:srgbClr val="BFDBFE"/>
                </a:solidFill>
              </a:defRPr>
            </a:pPr>
            <a:r>
              <a:t>TARGET DATASET</a:t>
            </a:r>
          </a:p>
          <a:p>
            <a:pPr>
              <a:spcBef>
                <a:spcPts val="600"/>
              </a:spcBef>
              <a:defRPr sz="1100">
                <a:solidFill>
                  <a:srgbClr val="F1F5F9"/>
                </a:solidFill>
              </a:defRPr>
            </a:pPr>
            <a:r>
              <a:t>AfriHate Benchmark</a:t>
            </a:r>
            <a:br/>
            <a:r>
              <a:t>(Muhammad et al., NAACL 2025)</a:t>
            </a:r>
            <a:br/>
            <a:r>
              <a:t>Twi ('twi') &amp; Hausa ('hau')</a:t>
            </a:r>
          </a:p>
        </p:txBody>
      </p:sp>
      <p:sp>
        <p:nvSpPr>
          <p:cNvPr id="7" name="Rectangle 6"/>
          <p:cNvSpPr/>
          <p:nvPr/>
        </p:nvSpPr>
        <p:spPr>
          <a:xfrm>
            <a:off x="3456432" y="3291840"/>
            <a:ext cx="2578608" cy="1645920"/>
          </a:xfrm>
          <a:prstGeom prst="rect">
            <a:avLst/>
          </a:prstGeom>
          <a:solidFill>
            <a:srgbClr val="0F172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000" b="1">
                <a:solidFill>
                  <a:srgbClr val="BFDBFE"/>
                </a:solidFill>
              </a:defRPr>
            </a:pPr>
            <a:r>
              <a:t>MODEL ARCHITECTURE</a:t>
            </a:r>
          </a:p>
          <a:p>
            <a:pPr>
              <a:spcBef>
                <a:spcPts val="600"/>
              </a:spcBef>
              <a:defRPr sz="1100">
                <a:solidFill>
                  <a:srgbClr val="F1F5F9"/>
                </a:solidFill>
              </a:defRPr>
            </a:pPr>
            <a:r>
              <a:t>Word + Char TF-IDF</a:t>
            </a:r>
            <a:br/>
            <a:r>
              <a:t>Balanced Logistic Regression</a:t>
            </a:r>
            <a:br/>
            <a:r>
              <a:t>Deterministic Seed: SEED=42</a:t>
            </a:r>
          </a:p>
        </p:txBody>
      </p:sp>
      <p:sp>
        <p:nvSpPr>
          <p:cNvPr id="8" name="Rectangle 7"/>
          <p:cNvSpPr/>
          <p:nvPr/>
        </p:nvSpPr>
        <p:spPr>
          <a:xfrm>
            <a:off x="6181344" y="3291840"/>
            <a:ext cx="2578608" cy="1645920"/>
          </a:xfrm>
          <a:prstGeom prst="rect">
            <a:avLst/>
          </a:prstGeom>
          <a:solidFill>
            <a:srgbClr val="581C87"/>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000" b="1">
                <a:solidFill>
                  <a:srgbClr val="BFDBFE"/>
                </a:solidFill>
              </a:defRPr>
            </a:pPr>
            <a:r>
              <a:t>CORE CONTRIBUTION</a:t>
            </a:r>
          </a:p>
          <a:p>
            <a:pPr>
              <a:spcBef>
                <a:spcPts val="600"/>
              </a:spcBef>
              <a:defRPr sz="1100">
                <a:solidFill>
                  <a:srgbClr val="F1F5F9"/>
                </a:solidFill>
              </a:defRPr>
            </a:pPr>
            <a:r>
              <a:t>Per-Class ECE &amp; Blinding Rates</a:t>
            </a:r>
            <a:br/>
            <a:r>
              <a:t>Temperature Scaling Inversion</a:t>
            </a:r>
            <a:br/>
            <a:r>
              <a:t>Triage Risk-Coverage Frontier</a:t>
            </a:r>
          </a:p>
        </p:txBody>
      </p:sp>
      <p:sp>
        <p:nvSpPr>
          <p:cNvPr id="9" name="Rectangle 8"/>
          <p:cNvSpPr/>
          <p:nvPr/>
        </p:nvSpPr>
        <p:spPr>
          <a:xfrm>
            <a:off x="8906256" y="3291840"/>
            <a:ext cx="2578608" cy="1645920"/>
          </a:xfrm>
          <a:prstGeom prst="rect">
            <a:avLst/>
          </a:prstGeom>
          <a:solidFill>
            <a:srgbClr val="134E4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000" b="1">
                <a:solidFill>
                  <a:srgbClr val="BFDBFE"/>
                </a:solidFill>
              </a:defRPr>
            </a:pPr>
            <a:r>
              <a:t>REPOSITORY &amp; CODE</a:t>
            </a:r>
          </a:p>
          <a:p>
            <a:pPr>
              <a:spcBef>
                <a:spcPts val="600"/>
              </a:spcBef>
              <a:defRPr sz="1100">
                <a:solidFill>
                  <a:srgbClr val="F1F5F9"/>
                </a:solidFill>
              </a:defRPr>
            </a:pPr>
            <a:r>
              <a:t>GitHub: NEMESIS-7/CMSMM_finalproject</a:t>
            </a:r>
            <a:br/>
            <a:r>
              <a:t>Primary Notebook: calibration_study.ipynb</a:t>
            </a:r>
            <a:br/>
            <a:r>
              <a:t>Includes Data &amp; Model Cards</a:t>
            </a:r>
          </a:p>
        </p:txBody>
      </p:sp>
      <p:sp>
        <p:nvSpPr>
          <p:cNvPr id="10" name="Rectangle 9"/>
          <p:cNvSpPr/>
          <p:nvPr/>
        </p:nvSpPr>
        <p:spPr>
          <a:xfrm>
            <a:off x="731520" y="5212080"/>
            <a:ext cx="10725912" cy="1005840"/>
          </a:xfrm>
          <a:prstGeom prst="rect">
            <a:avLst/>
          </a:prstGeom>
          <a:solidFill>
            <a:srgbClr val="131E3D"/>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defRPr sz="1200" b="1">
                <a:solidFill>
                  <a:srgbClr val="FFFFFF"/>
                </a:solidFill>
              </a:defRPr>
            </a:pPr>
            <a:r>
              <a:t>Student Submission &amp; Oral Defence | Course: DCIT 316 — Academic Year 2025/2026</a:t>
            </a:r>
          </a:p>
          <a:p>
            <a:pPr>
              <a:spcBef>
                <a:spcPts val="400"/>
              </a:spcBef>
              <a:defRPr sz="1100">
                <a:solidFill>
                  <a:srgbClr val="94A3B8"/>
                </a:solidFill>
              </a:defRPr>
            </a:pPr>
            <a:r>
              <a:t>Student Name: Elikem Fenuksu  |  Student ID: 10986542  |  GitHub: https://github.com/NEMESIS-7/CMSMM_finalproject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PROBLEM DEFINITION &amp; OPERATIONAL CONTEXT</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Why Confidence Calibration Matters in Content Moderation</a:t>
            </a:r>
          </a:p>
        </p:txBody>
      </p:sp>
      <p:sp>
        <p:nvSpPr>
          <p:cNvPr id="5" name="Rectangle 4"/>
          <p:cNvSpPr/>
          <p:nvPr/>
        </p:nvSpPr>
        <p:spPr>
          <a:xfrm>
            <a:off x="731520" y="1371600"/>
            <a:ext cx="5212080" cy="3474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600" b="1">
                <a:solidFill>
                  <a:srgbClr val="2563EB"/>
                </a:solidFill>
              </a:defRPr>
            </a:pPr>
            <a:r>
              <a:t>The Triage Pipeline Promise</a:t>
            </a:r>
          </a:p>
          <a:p>
            <a:pPr>
              <a:spcBef>
                <a:spcPts val="800"/>
              </a:spcBef>
            </a:pPr>
            <a:r>
              <a:rPr sz="1150" b="1">
                <a:solidFill>
                  <a:srgbClr val="0F172A"/>
                </a:solidFill>
              </a:rPr>
              <a:t>• High-Volume Platforms:</a:t>
            </a:r>
            <a:r>
              <a:rPr sz="1100">
                <a:solidFill>
                  <a:srgbClr val="475569"/>
                </a:solidFill>
              </a:rPr>
              <a:t> Human moderators cannot review millions of daily posts. Automated triage divides the workload based on predicted confidence.</a:t>
            </a:r>
          </a:p>
          <a:p>
            <a:pPr>
              <a:spcBef>
                <a:spcPts val="800"/>
              </a:spcBef>
            </a:pPr>
            <a:r>
              <a:rPr sz="1150" b="1">
                <a:solidFill>
                  <a:srgbClr val="0F172A"/>
                </a:solidFill>
              </a:rPr>
              <a:t>• Automated Tier (p &gt;= tau):</a:t>
            </a:r>
            <a:r>
              <a:rPr sz="1100">
                <a:solidFill>
                  <a:srgbClr val="475569"/>
                </a:solidFill>
              </a:rPr>
              <a:t> High-confidence predictions are automatically actioned (removed, flagged, or cleared) without human intervention.</a:t>
            </a:r>
          </a:p>
          <a:p>
            <a:pPr>
              <a:spcBef>
                <a:spcPts val="800"/>
              </a:spcBef>
            </a:pPr>
            <a:r>
              <a:rPr sz="1150" b="1">
                <a:solidFill>
                  <a:srgbClr val="0F172A"/>
                </a:solidFill>
              </a:rPr>
              <a:t>• Human Escalation (p &lt; tau):</a:t>
            </a:r>
            <a:r>
              <a:rPr sz="1100">
                <a:solidFill>
                  <a:srgbClr val="475569"/>
                </a:solidFill>
              </a:rPr>
              <a:t> Low-confidence predictions are routed to human review queues for careful scrutiny.</a:t>
            </a:r>
          </a:p>
          <a:p>
            <a:pPr>
              <a:spcBef>
                <a:spcPts val="800"/>
              </a:spcBef>
            </a:pPr>
            <a:r>
              <a:rPr sz="1150" b="1">
                <a:solidFill>
                  <a:srgbClr val="0F172A"/>
                </a:solidFill>
              </a:rPr>
              <a:t>• The Core Premise:</a:t>
            </a:r>
            <a:r>
              <a:rPr sz="1100">
                <a:solidFill>
                  <a:srgbClr val="475569"/>
                </a:solidFill>
              </a:rPr>
              <a:t> This entire system assumes confidence reflects true correctness probability. If a model claims 90% confidence, it must be right ~90% of the time.</a:t>
            </a:r>
          </a:p>
        </p:txBody>
      </p:sp>
      <p:sp>
        <p:nvSpPr>
          <p:cNvPr id="6" name="Rectangle 5"/>
          <p:cNvSpPr/>
          <p:nvPr/>
        </p:nvSpPr>
        <p:spPr>
          <a:xfrm>
            <a:off x="6217920" y="1371600"/>
            <a:ext cx="5212080" cy="347472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wrap="square" lIns="228600" tIns="228600" rIns="228600" rtlCol="0" anchor="ctr"/>
          <a:lstStyle/>
          <a:p>
            <a:pPr algn="ctr">
              <a:defRPr sz="1600" b="1">
                <a:solidFill>
                  <a:srgbClr val="DC2626"/>
                </a:solidFill>
              </a:defRPr>
            </a:pPr>
            <a:r>
              <a:t>The Failure Mode: 'Moderator Blinding'</a:t>
            </a:r>
          </a:p>
          <a:p>
            <a:pPr>
              <a:spcBef>
                <a:spcPts val="800"/>
              </a:spcBef>
            </a:pPr>
            <a:r>
              <a:rPr sz="1150" b="1">
                <a:solidFill>
                  <a:srgbClr val="0F172A"/>
                </a:solidFill>
              </a:rPr>
              <a:t>• The Danger of Confident Errors:</a:t>
            </a:r>
            <a:r>
              <a:rPr sz="1100">
                <a:solidFill>
                  <a:srgbClr val="475569"/>
                </a:solidFill>
              </a:rPr>
              <a:t> When a model is confidently wrong, it files mistakes under 'Trust Me' and routes them away from human oversight.</a:t>
            </a:r>
          </a:p>
          <a:p>
            <a:pPr>
              <a:spcBef>
                <a:spcPts val="800"/>
              </a:spcBef>
            </a:pPr>
            <a:r>
              <a:rPr sz="1150" b="1">
                <a:solidFill>
                  <a:srgbClr val="0F172A"/>
                </a:solidFill>
              </a:rPr>
              <a:t>• Active Misdirection:</a:t>
            </a:r>
            <a:r>
              <a:rPr sz="1100">
                <a:solidFill>
                  <a:srgbClr val="475569"/>
                </a:solidFill>
              </a:rPr>
              <a:t> The system does not merely fail—it blinds the human reviewer by suppressing the very posts that urgently require correction.</a:t>
            </a:r>
          </a:p>
          <a:p>
            <a:pPr>
              <a:spcBef>
                <a:spcPts val="800"/>
              </a:spcBef>
            </a:pPr>
            <a:r>
              <a:rPr sz="1150" b="1">
                <a:solidFill>
                  <a:srgbClr val="0F172A"/>
                </a:solidFill>
              </a:rPr>
              <a:t>• Directional Harms in African Contexts:</a:t>
            </a:r>
            <a:r>
              <a:rPr sz="1100">
                <a:solidFill>
                  <a:srgbClr val="475569"/>
                </a:solidFill>
              </a:rPr>
              <a:t> Misclassifying Hate as Normal allows harmful abuse to propagate; misclassifying Normal as Hate/Abuse censors innocent Ghanaian/Nigerian speakers.</a:t>
            </a:r>
          </a:p>
          <a:p>
            <a:pPr>
              <a:spcBef>
                <a:spcPts val="800"/>
              </a:spcBef>
            </a:pPr>
            <a:r>
              <a:rPr sz="1150" b="1">
                <a:solidFill>
                  <a:srgbClr val="0F172A"/>
                </a:solidFill>
              </a:rPr>
              <a:t>• The Calibration Blindspot:</a:t>
            </a:r>
            <a:r>
              <a:rPr sz="1100">
                <a:solidFill>
                  <a:srgbClr val="475569"/>
                </a:solidFill>
              </a:rPr>
              <a:t> Standard evaluations report only overall accuracy or aggregate loss, completely hiding class-specific confidence distortions.</a:t>
            </a:r>
          </a:p>
        </p:txBody>
      </p:sp>
      <p:sp>
        <p:nvSpPr>
          <p:cNvPr id="7" name="Rectangle 6"/>
          <p:cNvSpPr/>
          <p:nvPr/>
        </p:nvSpPr>
        <p:spPr>
          <a:xfrm>
            <a:off x="731520" y="5029200"/>
            <a:ext cx="10698480" cy="128016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228600" tIns="137160" rIns="228600" rtlCol="0" anchor="ctr"/>
          <a:lstStyle/>
          <a:p>
            <a:pPr algn="ctr">
              <a:defRPr sz="1100" b="1">
                <a:solidFill>
                  <a:srgbClr val="1E3A8A"/>
                </a:solidFill>
              </a:defRPr>
            </a:pPr>
            <a:r>
              <a:t>CRITICAL DISTINCTION: ACCURACY VS. CALIBRATION</a:t>
            </a:r>
          </a:p>
          <a:p>
            <a:pPr>
              <a:spcBef>
                <a:spcPts val="400"/>
              </a:spcBef>
              <a:defRPr sz="1050">
                <a:solidFill>
                  <a:srgbClr val="0F172A"/>
                </a:solidFill>
              </a:defRPr>
            </a:pPr>
            <a:r>
              <a:t>• Accuracy measures overall correctness ('How often is the model right?').</a:t>
            </a:r>
            <a:br/>
            <a:r>
              <a:t>• Calibration measures probability reliability ('When the model claims 80% certainty, is it actually right 80% of the time?').</a:t>
            </a:r>
            <a:br/>
            <a:r>
              <a:t>• A classifier can achieve high accuracy while remaining dangerously overconfident on its critical errors.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RESEARCH QUESTIONS &amp; HYPOTHESES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Investigating Per-Class Calibration Under Inverted Skew</a:t>
            </a:r>
          </a:p>
        </p:txBody>
      </p:sp>
      <p:sp>
        <p:nvSpPr>
          <p:cNvPr id="5" name="Rectangle 4"/>
          <p:cNvSpPr/>
          <p:nvPr/>
        </p:nvSpPr>
        <p:spPr>
          <a:xfrm>
            <a:off x="731520" y="1371600"/>
            <a:ext cx="3429000" cy="338328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2563EB"/>
                </a:solidFill>
              </a:defRPr>
            </a:pPr>
            <a:r>
              <a:t>RQ1: Trust Across Classes</a:t>
            </a:r>
          </a:p>
          <a:p>
            <a:pPr>
              <a:spcBef>
                <a:spcPts val="800"/>
              </a:spcBef>
              <a:defRPr sz="1100">
                <a:solidFill>
                  <a:srgbClr val="0F172A"/>
                </a:solidFill>
              </a:defRPr>
            </a:pPr>
            <a:r>
              <a:t>Is a hate-speech classifier's confidence equally trustworthy across classes, or does calibration degrade substantially on the minority class?</a:t>
            </a:r>
          </a:p>
          <a:p>
            <a:pPr>
              <a:spcBef>
                <a:spcPts val="1000"/>
              </a:spcBef>
              <a:defRPr sz="1050" b="1">
                <a:solidFill>
                  <a:srgbClr val="2563EB"/>
                </a:solidFill>
              </a:defRPr>
            </a:pPr>
            <a:r>
              <a:t>Theoretical Framing:</a:t>
            </a:r>
          </a:p>
          <a:p>
            <a:pPr>
              <a:spcBef>
                <a:spcPts val="300"/>
              </a:spcBef>
              <a:defRPr sz="1050">
                <a:solidFill>
                  <a:srgbClr val="475569"/>
                </a:solidFill>
              </a:defRPr>
            </a:pPr>
            <a:r>
              <a:t>Hypothesis: Confidence is not uniform; minority classes suffer degraded calibration due to sparse training representations.</a:t>
            </a:r>
          </a:p>
        </p:txBody>
      </p:sp>
      <p:sp>
        <p:nvSpPr>
          <p:cNvPr id="6" name="Rectangle 5"/>
          <p:cNvSpPr/>
          <p:nvPr/>
        </p:nvSpPr>
        <p:spPr>
          <a:xfrm>
            <a:off x="4389120" y="1371600"/>
            <a:ext cx="3429000" cy="338328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DC2626"/>
                </a:solidFill>
              </a:defRPr>
            </a:pPr>
            <a:r>
              <a:t>RQ2: Mitigation Efficacy</a:t>
            </a:r>
          </a:p>
          <a:p>
            <a:pPr>
              <a:spcBef>
                <a:spcPts val="800"/>
              </a:spcBef>
              <a:defRPr sz="1100">
                <a:solidFill>
                  <a:srgbClr val="0F172A"/>
                </a:solidFill>
              </a:defRPr>
            </a:pPr>
            <a:r>
              <a:t>Does standard post-hoc temperature scaling recover calibration uniformly across all classes, or does it fix aggregate loss while leaving specific classes worse off?</a:t>
            </a:r>
          </a:p>
          <a:p>
            <a:pPr>
              <a:spcBef>
                <a:spcPts val="1000"/>
              </a:spcBef>
              <a:defRPr sz="1050" b="1">
                <a:solidFill>
                  <a:srgbClr val="DC2626"/>
                </a:solidFill>
              </a:defRPr>
            </a:pPr>
            <a:r>
              <a:t>Theoretical Framing:</a:t>
            </a:r>
          </a:p>
          <a:p>
            <a:pPr>
              <a:spcBef>
                <a:spcPts val="300"/>
              </a:spcBef>
              <a:defRPr sz="1050">
                <a:solidFill>
                  <a:srgbClr val="475569"/>
                </a:solidFill>
              </a:defRPr>
            </a:pPr>
            <a:r>
              <a:t>Hypothesis: Scalar temperature scaling optimizes for the majority class, risking per-class calibration inversion on the minority.</a:t>
            </a:r>
          </a:p>
        </p:txBody>
      </p:sp>
      <p:sp>
        <p:nvSpPr>
          <p:cNvPr id="7" name="Rectangle 6"/>
          <p:cNvSpPr/>
          <p:nvPr/>
        </p:nvSpPr>
        <p:spPr>
          <a:xfrm>
            <a:off x="8046720" y="1371600"/>
            <a:ext cx="3429000" cy="3383280"/>
          </a:xfrm>
          <a:prstGeom prst="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500" b="1">
                <a:solidFill>
                  <a:srgbClr val="D97706"/>
                </a:solidFill>
              </a:defRPr>
            </a:pPr>
            <a:r>
              <a:t>RQ3: Cross-Language Inversion</a:t>
            </a:r>
          </a:p>
          <a:p>
            <a:pPr>
              <a:spcBef>
                <a:spcPts val="800"/>
              </a:spcBef>
              <a:defRPr sz="1100">
                <a:solidFill>
                  <a:srgbClr val="0F172A"/>
                </a:solidFill>
              </a:defRPr>
            </a:pPr>
            <a:r>
              <a:t>Does the worst-calibrated class follow the rare class when comparing Twi (rare: Normal) against Hausa (rare: Hate)?</a:t>
            </a:r>
          </a:p>
          <a:p>
            <a:pPr>
              <a:spcBef>
                <a:spcPts val="1000"/>
              </a:spcBef>
              <a:defRPr sz="1050" b="1">
                <a:solidFill>
                  <a:srgbClr val="D97706"/>
                </a:solidFill>
              </a:defRPr>
            </a:pPr>
            <a:r>
              <a:t>Theoretical Framing:</a:t>
            </a:r>
          </a:p>
          <a:p>
            <a:pPr>
              <a:spcBef>
                <a:spcPts val="300"/>
              </a:spcBef>
              <a:defRPr sz="1050">
                <a:solidFill>
                  <a:srgbClr val="475569"/>
                </a:solidFill>
              </a:defRPr>
            </a:pPr>
            <a:r>
              <a:t>Hypothesis: The miscalibration failure mode flips between languages, tracking whichever class is underrepresented.</a:t>
            </a:r>
          </a:p>
        </p:txBody>
      </p:sp>
      <p:sp>
        <p:nvSpPr>
          <p:cNvPr id="8" name="Rectangle 7"/>
          <p:cNvSpPr/>
          <p:nvPr/>
        </p:nvSpPr>
        <p:spPr>
          <a:xfrm>
            <a:off x="731520" y="4937760"/>
            <a:ext cx="10744200" cy="1371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228600" tIns="137160" rIns="228600" rtlCol="0" anchor="ctr"/>
          <a:lstStyle/>
          <a:p>
            <a:pPr algn="ctr">
              <a:defRPr sz="1100" b="1">
                <a:solidFill>
                  <a:srgbClr val="0F172A"/>
                </a:solidFill>
              </a:defRPr>
            </a:pPr>
            <a:r>
              <a:t>A NATURAL EXPERIMENT: INVERTED CLASS PROFILES ACROSS TWO AFRICAN LANGUAGES</a:t>
            </a:r>
          </a:p>
          <a:p>
            <a:pPr>
              <a:spcBef>
                <a:spcPts val="400"/>
              </a:spcBef>
              <a:defRPr sz="1050">
                <a:solidFill>
                  <a:srgbClr val="475569"/>
                </a:solidFill>
              </a:defRPr>
            </a:pPr>
            <a:r>
              <a:t>• Identical Task &amp; Schema: 3-class classification ('Abuse', 'Hate', 'Normal') using identical preprocessing and features.</a:t>
            </a:r>
            <a:br/>
            <a:r>
              <a:t>• Twi (Ghana): Abuse is dominant (70.5%), while Normal (15.2%) and Hate (14.3%) are rare minority classes.</a:t>
            </a:r>
            <a:br/>
            <a:r>
              <a:t>• Hausa (Nigeria/West Africa): Normal is dominant (56.7%), while Abuse (33.5%) is mid-frequency and Hate (9.8%) is rare.</a:t>
            </a:r>
            <a:br/>
            <a:r>
              <a:t>• Research Value: If miscalibration tracks rarity, the failure mode will cleanly flip between Twi and Hausa.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THEORETICAL FOUNDATIONS &amp; LITERATURE MATRIX</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Synthesizing Calibration Theory and African NLP Benchmarks</a:t>
            </a:r>
          </a:p>
        </p:txBody>
      </p:sp>
      <p:sp>
        <p:nvSpPr>
          <p:cNvPr id="5" name="Rectangle 4"/>
          <p:cNvSpPr/>
          <p:nvPr/>
        </p:nvSpPr>
        <p:spPr>
          <a:xfrm>
            <a:off x="731520" y="1371600"/>
            <a:ext cx="2578608" cy="493776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2563EB"/>
                </a:solidFill>
              </a:defRPr>
            </a:pPr>
            <a:r>
              <a:t>Guo et al. (ICML 2017)</a:t>
            </a:r>
          </a:p>
          <a:p>
            <a:pPr>
              <a:spcBef>
                <a:spcPts val="200"/>
              </a:spcBef>
              <a:defRPr sz="950" i="1">
                <a:solidFill>
                  <a:srgbClr val="475569"/>
                </a:solidFill>
              </a:defRPr>
            </a:pPr>
            <a:r>
              <a:t>On Calibration of Modern Neural Networks</a:t>
            </a:r>
          </a:p>
          <a:p>
            <a:pPr>
              <a:spcBef>
                <a:spcPts val="800"/>
              </a:spcBef>
              <a:defRPr sz="1000" b="1">
                <a:solidFill>
                  <a:srgbClr val="0F172A"/>
                </a:solidFill>
              </a:defRPr>
            </a:pPr>
            <a:r>
              <a:t>Key Insights:</a:t>
            </a:r>
          </a:p>
          <a:p>
            <a:pPr>
              <a:spcBef>
                <a:spcPts val="300"/>
              </a:spcBef>
              <a:defRPr sz="950">
                <a:solidFill>
                  <a:srgbClr val="0F172A"/>
                </a:solidFill>
              </a:defRPr>
            </a:pPr>
            <a:r>
              <a:t>• Demonstrated modern networks are systematically overconfident.</a:t>
            </a:r>
            <a:br/>
            <a:r>
              <a:t>• Formalized Expected Calibration Error (ECE) and Reliability Diagrams.</a:t>
            </a:r>
            <a:br/>
            <a:r>
              <a:t>• Introduced scalar Temperature Scaling as a simple post-hoc fix.</a:t>
            </a:r>
            <a:br/>
            <a:br/>
            <a:r>
              <a:t>Relevance: Directly provides our evaluation metrics and mitigation baseline.</a:t>
            </a:r>
          </a:p>
        </p:txBody>
      </p:sp>
      <p:sp>
        <p:nvSpPr>
          <p:cNvPr id="6" name="Rectangle 5"/>
          <p:cNvSpPr/>
          <p:nvPr/>
        </p:nvSpPr>
        <p:spPr>
          <a:xfrm>
            <a:off x="3456432" y="1371600"/>
            <a:ext cx="2578608" cy="493776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1E3A8A"/>
                </a:solidFill>
              </a:defRPr>
            </a:pPr>
            <a:r>
              <a:t>Ahuja et al. (EMNLP 2022)</a:t>
            </a:r>
          </a:p>
          <a:p>
            <a:pPr>
              <a:spcBef>
                <a:spcPts val="200"/>
              </a:spcBef>
              <a:defRPr sz="950" i="1">
                <a:solidFill>
                  <a:srgbClr val="475569"/>
                </a:solidFill>
              </a:defRPr>
            </a:pPr>
            <a:r>
              <a:t>Calibration of Massively Multilingual Models</a:t>
            </a:r>
          </a:p>
          <a:p>
            <a:pPr>
              <a:spcBef>
                <a:spcPts val="800"/>
              </a:spcBef>
              <a:defRPr sz="1000" b="1">
                <a:solidFill>
                  <a:srgbClr val="0F172A"/>
                </a:solidFill>
              </a:defRPr>
            </a:pPr>
            <a:r>
              <a:t>Key Insights:</a:t>
            </a:r>
          </a:p>
          <a:p>
            <a:pPr>
              <a:spcBef>
                <a:spcPts val="300"/>
              </a:spcBef>
              <a:defRPr sz="950">
                <a:solidFill>
                  <a:srgbClr val="0F172A"/>
                </a:solidFill>
              </a:defRPr>
            </a:pPr>
            <a:r>
              <a:t>• Multilingual calibration degrades on low-resource and typologically distant languages.</a:t>
            </a:r>
            <a:br/>
            <a:r>
              <a:t>• Acceptable accuracy masks severe confidence errors.</a:t>
            </a:r>
            <a:br/>
            <a:r>
              <a:t>• Post-hoc mitigations fail to close the language gap.</a:t>
            </a:r>
            <a:br/>
            <a:br/>
            <a:r>
              <a:t>Relevance: Motivates evaluating African languages empirically rather than assuming transfer.</a:t>
            </a:r>
          </a:p>
        </p:txBody>
      </p:sp>
      <p:sp>
        <p:nvSpPr>
          <p:cNvPr id="7" name="Rectangle 6"/>
          <p:cNvSpPr/>
          <p:nvPr/>
        </p:nvSpPr>
        <p:spPr>
          <a:xfrm>
            <a:off x="6181344" y="1371600"/>
            <a:ext cx="2578608" cy="493776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DC2626"/>
                </a:solidFill>
              </a:defRPr>
            </a:pPr>
            <a:r>
              <a:t>Islam et al. (2021)</a:t>
            </a:r>
          </a:p>
          <a:p>
            <a:pPr>
              <a:spcBef>
                <a:spcPts val="200"/>
              </a:spcBef>
              <a:defRPr sz="950" i="1">
                <a:solidFill>
                  <a:srgbClr val="475569"/>
                </a:solidFill>
              </a:defRPr>
            </a:pPr>
            <a:r>
              <a:t>Calibration for Long-Tailed Recognition</a:t>
            </a:r>
          </a:p>
          <a:p>
            <a:pPr>
              <a:spcBef>
                <a:spcPts val="800"/>
              </a:spcBef>
              <a:defRPr sz="1000" b="1">
                <a:solidFill>
                  <a:srgbClr val="0F172A"/>
                </a:solidFill>
              </a:defRPr>
            </a:pPr>
            <a:r>
              <a:t>Key Insights:</a:t>
            </a:r>
          </a:p>
          <a:p>
            <a:pPr>
              <a:spcBef>
                <a:spcPts val="300"/>
              </a:spcBef>
              <a:defRPr sz="950">
                <a:solidFill>
                  <a:srgbClr val="0F172A"/>
                </a:solidFill>
              </a:defRPr>
            </a:pPr>
            <a:r>
              <a:t>• Scalar temperature scaling is suboptimal under class imbalance.</a:t>
            </a:r>
            <a:br/>
            <a:r>
              <a:t>• Majority classes dominate validation loss, skewing scalar T.</a:t>
            </a:r>
            <a:br/>
            <a:r>
              <a:t>• Minority classes carry disproportionate calibration error.</a:t>
            </a:r>
            <a:br/>
            <a:br/>
            <a:r>
              <a:t>Relevance: Provides direct theoretical motivation for per-class ECE measurement.</a:t>
            </a:r>
          </a:p>
        </p:txBody>
      </p:sp>
      <p:sp>
        <p:nvSpPr>
          <p:cNvPr id="8" name="Rectangle 7"/>
          <p:cNvSpPr/>
          <p:nvPr/>
        </p:nvSpPr>
        <p:spPr>
          <a:xfrm>
            <a:off x="8906256" y="1371600"/>
            <a:ext cx="2578608" cy="4937760"/>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059669"/>
                </a:solidFill>
              </a:defRPr>
            </a:pPr>
            <a:r>
              <a:t>Muhammad et al. (NAACL 2025)</a:t>
            </a:r>
          </a:p>
          <a:p>
            <a:pPr>
              <a:spcBef>
                <a:spcPts val="200"/>
              </a:spcBef>
              <a:defRPr sz="950" i="1">
                <a:solidFill>
                  <a:srgbClr val="475569"/>
                </a:solidFill>
              </a:defRPr>
            </a:pPr>
            <a:r>
              <a:t>AfriHate: African Hate Speech Benchmark</a:t>
            </a:r>
          </a:p>
          <a:p>
            <a:pPr>
              <a:spcBef>
                <a:spcPts val="800"/>
              </a:spcBef>
              <a:defRPr sz="1000" b="1">
                <a:solidFill>
                  <a:srgbClr val="0F172A"/>
                </a:solidFill>
              </a:defRPr>
            </a:pPr>
            <a:r>
              <a:t>Key Insights:</a:t>
            </a:r>
          </a:p>
          <a:p>
            <a:pPr>
              <a:spcBef>
                <a:spcPts val="300"/>
              </a:spcBef>
              <a:defRPr sz="950">
                <a:solidFill>
                  <a:srgbClr val="0F172A"/>
                </a:solidFill>
              </a:defRPr>
            </a:pPr>
            <a:r>
              <a:t>• First extensive hate speech collection across 15 African languages.</a:t>
            </a:r>
            <a:br/>
            <a:r>
              <a:t>• Native-speaker annotations from Ghanaian and Nigerian contexts.</a:t>
            </a:r>
            <a:br/>
            <a:r>
              <a:t>• Documents extreme skew and bidirectional moderation failures.</a:t>
            </a:r>
            <a:br/>
            <a:br/>
            <a:r>
              <a:t>Relevance: Supplies our benchmark data, ground-truth labels, and baseline framing.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DATA &amp; STEP 0 PRE-VERIFICATION</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AfriHate: Verified Class Counts and Natural Experiment Design</a:t>
            </a:r>
          </a:p>
        </p:txBody>
      </p:sp>
      <p:sp>
        <p:nvSpPr>
          <p:cNvPr id="5" name="Rectangle 4"/>
          <p:cNvSpPr/>
          <p:nvPr/>
        </p:nvSpPr>
        <p:spPr>
          <a:xfrm>
            <a:off x="731520" y="1371600"/>
            <a:ext cx="5120640" cy="4937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2563EB"/>
                </a:solidFill>
              </a:defRPr>
            </a:pPr>
            <a:r>
              <a:t>Step 0 Pre-Verification Checks (Passed)</a:t>
            </a:r>
          </a:p>
          <a:p>
            <a:pPr>
              <a:spcBef>
                <a:spcPts val="400"/>
              </a:spcBef>
            </a:pPr>
            <a:r>
              <a:rPr sz="1000" b="1">
                <a:solidFill>
                  <a:srgbClr val="0F172A"/>
                </a:solidFill>
              </a:rPr>
              <a:t>• 1. True Label Strings:</a:t>
            </a:r>
            <a:r>
              <a:rPr sz="950">
                <a:solidFill>
                  <a:srgbClr val="475569"/>
                </a:solidFill>
              </a:rPr>
              <a:t> Verified via df['label'].unique() -&gt; ['Abuse', 'Hate', 'Normal']. Avoided hardcoded prose assumptions.</a:t>
            </a:r>
          </a:p>
          <a:p>
            <a:pPr>
              <a:spcBef>
                <a:spcPts val="400"/>
              </a:spcBef>
            </a:pPr>
            <a:r>
              <a:rPr sz="1000" b="1">
                <a:solidFill>
                  <a:srgbClr val="0F172A"/>
                </a:solidFill>
              </a:rPr>
              <a:t>• 2. Test Cell Viability:</a:t>
            </a:r>
            <a:r>
              <a:rPr sz="950">
                <a:solidFill>
                  <a:srgbClr val="475569"/>
                </a:solidFill>
              </a:rPr>
              <a:t> Rarest test cell check confirmed N &gt;= 30 (Twi Hate: 100, Normal: 106). Both languages fully viable for statistical evaluation.</a:t>
            </a:r>
          </a:p>
          <a:p>
            <a:pPr>
              <a:spcBef>
                <a:spcPts val="400"/>
              </a:spcBef>
            </a:pPr>
            <a:r>
              <a:rPr sz="1000" b="1">
                <a:solidFill>
                  <a:srgbClr val="0F172A"/>
                </a:solidFill>
              </a:rPr>
              <a:t>• 3. Schema Parity:</a:t>
            </a:r>
            <a:r>
              <a:rPr sz="950">
                <a:solidFill>
                  <a:srgbClr val="475569"/>
                </a:solidFill>
              </a:rPr>
              <a:t> Twi [id, tweet, label] aligned with Hausa [id, tweet, label, length] by isolating common columns.</a:t>
            </a:r>
          </a:p>
          <a:p>
            <a:pPr>
              <a:spcBef>
                <a:spcPts val="800"/>
              </a:spcBef>
              <a:defRPr sz="1100" b="1">
                <a:solidFill>
                  <a:srgbClr val="0F172A"/>
                </a:solidFill>
              </a:defRPr>
            </a:pPr>
            <a:r>
              <a:t>Verified Split Distributions:</a:t>
            </a:r>
          </a:p>
        </p:txBody>
      </p:sp>
      <p:graphicFrame>
        <p:nvGraphicFramePr>
          <p:cNvPr id="6" name="Table 5"/>
          <p:cNvGraphicFramePr>
            <a:graphicFrameLocks noGrp="1"/>
          </p:cNvGraphicFramePr>
          <p:nvPr/>
        </p:nvGraphicFramePr>
        <p:xfrm>
          <a:off x="914400" y="3931920"/>
          <a:ext cx="4754880" cy="914400"/>
        </p:xfrm>
        <a:graphic>
          <a:graphicData uri="http://schemas.openxmlformats.org/drawingml/2006/table">
            <a:tbl>
              <a:tblPr firstRow="1" bandRow="1">
                <a:tableStyleId>{5C22544A-7EE6-4342-B048-85BDC9FD1C3A}</a:tableStyleId>
              </a:tblPr>
              <a:tblGrid>
                <a:gridCol w="950976">
                  <a:extLst>
                    <a:ext uri="{9D8B030D-6E8A-4147-A177-3AD203B41FA5}">
                      <a16:colId xmlns:a16="http://schemas.microsoft.com/office/drawing/2014/main" val="20000"/>
                    </a:ext>
                  </a:extLst>
                </a:gridCol>
                <a:gridCol w="950976">
                  <a:extLst>
                    <a:ext uri="{9D8B030D-6E8A-4147-A177-3AD203B41FA5}">
                      <a16:colId xmlns:a16="http://schemas.microsoft.com/office/drawing/2014/main" val="20001"/>
                    </a:ext>
                  </a:extLst>
                </a:gridCol>
                <a:gridCol w="950976">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tblGrid>
              <a:tr h="304800">
                <a:tc>
                  <a:txBody>
                    <a:bodyPr/>
                    <a:lstStyle/>
                    <a:p>
                      <a:pPr algn="ctr">
                        <a:defRPr sz="950" b="1">
                          <a:solidFill>
                            <a:srgbClr val="FFFFFF"/>
                          </a:solidFill>
                        </a:defRPr>
                      </a:pPr>
                      <a:r>
                        <a:t>Subset</a:t>
                      </a:r>
                    </a:p>
                  </a:txBody>
                  <a:tcPr>
                    <a:solidFill>
                      <a:srgbClr val="1E293B"/>
                    </a:solidFill>
                  </a:tcPr>
                </a:tc>
                <a:tc>
                  <a:txBody>
                    <a:bodyPr/>
                    <a:lstStyle/>
                    <a:p>
                      <a:pPr algn="ctr">
                        <a:defRPr sz="950" b="1">
                          <a:solidFill>
                            <a:srgbClr val="FFFFFF"/>
                          </a:solidFill>
                        </a:defRPr>
                      </a:pPr>
                      <a:r>
                        <a:t>Train</a:t>
                      </a:r>
                    </a:p>
                  </a:txBody>
                  <a:tcPr>
                    <a:solidFill>
                      <a:srgbClr val="1E293B"/>
                    </a:solidFill>
                  </a:tcPr>
                </a:tc>
                <a:tc>
                  <a:txBody>
                    <a:bodyPr/>
                    <a:lstStyle/>
                    <a:p>
                      <a:pPr algn="ctr">
                        <a:defRPr sz="950" b="1">
                          <a:solidFill>
                            <a:srgbClr val="FFFFFF"/>
                          </a:solidFill>
                        </a:defRPr>
                      </a:pPr>
                      <a:r>
                        <a:t>Validation</a:t>
                      </a:r>
                    </a:p>
                  </a:txBody>
                  <a:tcPr>
                    <a:solidFill>
                      <a:srgbClr val="1E293B"/>
                    </a:solidFill>
                  </a:tcPr>
                </a:tc>
                <a:tc>
                  <a:txBody>
                    <a:bodyPr/>
                    <a:lstStyle/>
                    <a:p>
                      <a:pPr algn="ctr">
                        <a:defRPr sz="950" b="1">
                          <a:solidFill>
                            <a:srgbClr val="FFFFFF"/>
                          </a:solidFill>
                        </a:defRPr>
                      </a:pPr>
                      <a:r>
                        <a:t>Test</a:t>
                      </a:r>
                    </a:p>
                  </a:txBody>
                  <a:tcPr>
                    <a:solidFill>
                      <a:srgbClr val="1E293B"/>
                    </a:solidFill>
                  </a:tcPr>
                </a:tc>
                <a:tc>
                  <a:txBody>
                    <a:bodyPr/>
                    <a:lstStyle/>
                    <a:p>
                      <a:pPr algn="ctr">
                        <a:defRPr sz="950" b="1">
                          <a:solidFill>
                            <a:srgbClr val="FFFFFF"/>
                          </a:solidFill>
                        </a:defRPr>
                      </a:pPr>
                      <a:r>
                        <a:t>Dominant</a:t>
                      </a:r>
                    </a:p>
                  </a:txBody>
                  <a:tcPr>
                    <a:solidFill>
                      <a:srgbClr val="1E293B"/>
                    </a:solidFill>
                  </a:tcPr>
                </a:tc>
                <a:extLst>
                  <a:ext uri="{0D108BD9-81ED-4DB2-BD59-A6C34878D82A}">
                    <a16:rowId xmlns:a16="http://schemas.microsoft.com/office/drawing/2014/main" val="10000"/>
                  </a:ext>
                </a:extLst>
              </a:tr>
              <a:tr h="304800">
                <a:tc>
                  <a:txBody>
                    <a:bodyPr/>
                    <a:lstStyle/>
                    <a:p>
                      <a:pPr algn="ctr">
                        <a:defRPr sz="950" b="1">
                          <a:solidFill>
                            <a:srgbClr val="0F172A"/>
                          </a:solidFill>
                        </a:defRPr>
                      </a:pPr>
                      <a:r>
                        <a:t>Twi</a:t>
                      </a:r>
                    </a:p>
                  </a:txBody>
                  <a:tcPr>
                    <a:solidFill>
                      <a:srgbClr val="EFF6FF"/>
                    </a:solidFill>
                  </a:tcPr>
                </a:tc>
                <a:tc>
                  <a:txBody>
                    <a:bodyPr/>
                    <a:lstStyle/>
                    <a:p>
                      <a:pPr algn="ctr">
                        <a:defRPr sz="950" b="0">
                          <a:solidFill>
                            <a:srgbClr val="0F172A"/>
                          </a:solidFill>
                        </a:defRPr>
                      </a:pPr>
                      <a:r>
                        <a:t>2,564</a:t>
                      </a:r>
                    </a:p>
                  </a:txBody>
                  <a:tcPr>
                    <a:solidFill>
                      <a:srgbClr val="EFF6FF"/>
                    </a:solidFill>
                  </a:tcPr>
                </a:tc>
                <a:tc>
                  <a:txBody>
                    <a:bodyPr/>
                    <a:lstStyle/>
                    <a:p>
                      <a:pPr algn="ctr">
                        <a:defRPr sz="950" b="0">
                          <a:solidFill>
                            <a:srgbClr val="0F172A"/>
                          </a:solidFill>
                        </a:defRPr>
                      </a:pPr>
                      <a:r>
                        <a:t>639</a:t>
                      </a:r>
                    </a:p>
                  </a:txBody>
                  <a:tcPr>
                    <a:solidFill>
                      <a:srgbClr val="EFF6FF"/>
                    </a:solidFill>
                  </a:tcPr>
                </a:tc>
                <a:tc>
                  <a:txBody>
                    <a:bodyPr/>
                    <a:lstStyle/>
                    <a:p>
                      <a:pPr algn="ctr">
                        <a:defRPr sz="950" b="0">
                          <a:solidFill>
                            <a:srgbClr val="0F172A"/>
                          </a:solidFill>
                        </a:defRPr>
                      </a:pPr>
                      <a:r>
                        <a:t>698</a:t>
                      </a:r>
                    </a:p>
                  </a:txBody>
                  <a:tcPr>
                    <a:solidFill>
                      <a:srgbClr val="EFF6FF"/>
                    </a:solidFill>
                  </a:tcPr>
                </a:tc>
                <a:tc>
                  <a:txBody>
                    <a:bodyPr/>
                    <a:lstStyle/>
                    <a:p>
                      <a:pPr algn="ctr">
                        <a:defRPr sz="950" b="1">
                          <a:solidFill>
                            <a:srgbClr val="0F172A"/>
                          </a:solidFill>
                        </a:defRPr>
                      </a:pPr>
                      <a:r>
                        <a:t>Abuse (70.5%)</a:t>
                      </a:r>
                    </a:p>
                  </a:txBody>
                  <a:tcPr>
                    <a:solidFill>
                      <a:srgbClr val="EFF6FF"/>
                    </a:solidFill>
                  </a:tcPr>
                </a:tc>
                <a:extLst>
                  <a:ext uri="{0D108BD9-81ED-4DB2-BD59-A6C34878D82A}">
                    <a16:rowId xmlns:a16="http://schemas.microsoft.com/office/drawing/2014/main" val="10001"/>
                  </a:ext>
                </a:extLst>
              </a:tr>
              <a:tr h="304800">
                <a:tc>
                  <a:txBody>
                    <a:bodyPr/>
                    <a:lstStyle/>
                    <a:p>
                      <a:pPr algn="ctr">
                        <a:defRPr sz="950" b="1">
                          <a:solidFill>
                            <a:srgbClr val="0F172A"/>
                          </a:solidFill>
                        </a:defRPr>
                      </a:pPr>
                      <a:r>
                        <a:t>Hausa</a:t>
                      </a:r>
                    </a:p>
                  </a:txBody>
                  <a:tcPr>
                    <a:solidFill>
                      <a:srgbClr val="FFFFFF"/>
                    </a:solidFill>
                  </a:tcPr>
                </a:tc>
                <a:tc>
                  <a:txBody>
                    <a:bodyPr/>
                    <a:lstStyle/>
                    <a:p>
                      <a:pPr algn="ctr">
                        <a:defRPr sz="950" b="0">
                          <a:solidFill>
                            <a:srgbClr val="0F172A"/>
                          </a:solidFill>
                        </a:defRPr>
                      </a:pPr>
                      <a:r>
                        <a:t>4,566</a:t>
                      </a:r>
                    </a:p>
                  </a:txBody>
                  <a:tcPr>
                    <a:solidFill>
                      <a:srgbClr val="FFFFFF"/>
                    </a:solidFill>
                  </a:tcPr>
                </a:tc>
                <a:tc>
                  <a:txBody>
                    <a:bodyPr/>
                    <a:lstStyle/>
                    <a:p>
                      <a:pPr algn="ctr">
                        <a:defRPr sz="950" b="0">
                          <a:solidFill>
                            <a:srgbClr val="0F172A"/>
                          </a:solidFill>
                        </a:defRPr>
                      </a:pPr>
                      <a:r>
                        <a:t>1,029</a:t>
                      </a:r>
                    </a:p>
                  </a:txBody>
                  <a:tcPr>
                    <a:solidFill>
                      <a:srgbClr val="FFFFFF"/>
                    </a:solidFill>
                  </a:tcPr>
                </a:tc>
                <a:tc>
                  <a:txBody>
                    <a:bodyPr/>
                    <a:lstStyle/>
                    <a:p>
                      <a:pPr algn="ctr">
                        <a:defRPr sz="950" b="0">
                          <a:solidFill>
                            <a:srgbClr val="0F172A"/>
                          </a:solidFill>
                        </a:defRPr>
                      </a:pPr>
                      <a:r>
                        <a:t>1,049</a:t>
                      </a:r>
                    </a:p>
                  </a:txBody>
                  <a:tcPr>
                    <a:solidFill>
                      <a:srgbClr val="FFFFFF"/>
                    </a:solidFill>
                  </a:tcPr>
                </a:tc>
                <a:tc>
                  <a:txBody>
                    <a:bodyPr/>
                    <a:lstStyle/>
                    <a:p>
                      <a:pPr algn="ctr">
                        <a:defRPr sz="950" b="1">
                          <a:solidFill>
                            <a:srgbClr val="0F172A"/>
                          </a:solidFill>
                        </a:defRPr>
                      </a:pPr>
                      <a:r>
                        <a:t>Normal (56.7%)</a:t>
                      </a:r>
                    </a:p>
                  </a:txBody>
                  <a:tcPr>
                    <a:solidFill>
                      <a:srgbClr val="FFFFFF"/>
                    </a:solidFill>
                  </a:tcPr>
                </a:tc>
                <a:extLst>
                  <a:ext uri="{0D108BD9-81ED-4DB2-BD59-A6C34878D82A}">
                    <a16:rowId xmlns:a16="http://schemas.microsoft.com/office/drawing/2014/main" val="10002"/>
                  </a:ext>
                </a:extLst>
              </a:tr>
            </a:tbl>
          </a:graphicData>
        </a:graphic>
      </p:graphicFrame>
      <p:sp>
        <p:nvSpPr>
          <p:cNvPr id="7" name="Rectangle 6"/>
          <p:cNvSpPr/>
          <p:nvPr/>
        </p:nvSpPr>
        <p:spPr>
          <a:xfrm>
            <a:off x="914400" y="5029200"/>
            <a:ext cx="4754880" cy="1097280"/>
          </a:xfrm>
          <a:prstGeom prst="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wrap="square" lIns="109728" tIns="109728" rIns="109728" rtlCol="0" anchor="ctr"/>
          <a:lstStyle/>
          <a:p>
            <a:pPr algn="ctr">
              <a:defRPr sz="950" b="1">
                <a:solidFill>
                  <a:srgbClr val="D97706"/>
                </a:solidFill>
              </a:defRPr>
            </a:pPr>
            <a:r>
              <a:t>THE DECEPTIVE ACCURACY TRAP:</a:t>
            </a:r>
          </a:p>
          <a:p>
            <a:pPr>
              <a:spcBef>
                <a:spcPts val="200"/>
              </a:spcBef>
              <a:defRPr sz="900">
                <a:solidFill>
                  <a:srgbClr val="0F172A"/>
                </a:solidFill>
              </a:defRPr>
            </a:pPr>
            <a:r>
              <a:t>On Twi, a dummy classifier predicting 'Abuse' on every post achieves 70.5% accuracy while detecting 0% of Normal or Hate speech. Macro-F1 is the only honest headline metric.</a:t>
            </a:r>
          </a:p>
        </p:txBody>
      </p:sp>
      <p:pic>
        <p:nvPicPr>
          <p:cNvPr id="8" name="Picture 7" descr="class_distribution.png"/>
          <p:cNvPicPr>
            <a:picLocks noChangeAspect="1"/>
          </p:cNvPicPr>
          <p:nvPr/>
        </p:nvPicPr>
        <p:blipFill>
          <a:blip r:embed="rId3"/>
          <a:stretch>
            <a:fillRect/>
          </a:stretch>
        </p:blipFill>
        <p:spPr>
          <a:xfrm>
            <a:off x="6126480" y="1371600"/>
            <a:ext cx="5303520" cy="2121408"/>
          </a:xfrm>
          <a:prstGeom prst="rect">
            <a:avLst/>
          </a:prstGeom>
        </p:spPr>
      </p:pic>
      <p:sp>
        <p:nvSpPr>
          <p:cNvPr id="9" name="TextBox 8"/>
          <p:cNvSpPr txBox="1"/>
          <p:nvPr/>
        </p:nvSpPr>
        <p:spPr>
          <a:xfrm>
            <a:off x="6126480" y="5303520"/>
            <a:ext cx="5303520" cy="914400"/>
          </a:xfrm>
          <a:prstGeom prst="rect">
            <a:avLst/>
          </a:prstGeom>
          <a:noFill/>
        </p:spPr>
        <p:txBody>
          <a:bodyPr wrap="square">
            <a:spAutoFit/>
          </a:bodyPr>
          <a:lstStyle/>
          <a:p>
            <a:pPr>
              <a:defRPr sz="1000" i="1">
                <a:solidFill>
                  <a:srgbClr val="475569"/>
                </a:solidFill>
              </a:defRPr>
            </a:pPr>
            <a:r>
              <a:t>Figure 1: Empirical class distributions across Twi and Hausa splits. Notice the clear inversion: Twi is overwhelmingly dominated by Abuse, whereas Hausa is dominated by Normal speech.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METHODOLOGY &amp; CALIBRATION ARCHITECTURE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Feature Pipeline, Non-Parametric Binning, and Mitigation Setup</a:t>
            </a:r>
          </a:p>
        </p:txBody>
      </p:sp>
      <p:sp>
        <p:nvSpPr>
          <p:cNvPr id="5" name="Rectangle 4"/>
          <p:cNvSpPr/>
          <p:nvPr/>
        </p:nvSpPr>
        <p:spPr>
          <a:xfrm>
            <a:off x="731520" y="1371600"/>
            <a:ext cx="3429000" cy="493776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2563EB"/>
                </a:solidFill>
              </a:defRPr>
            </a:pPr>
            <a:r>
              <a:t>1. Feature Engineering &amp; Model</a:t>
            </a:r>
          </a:p>
          <a:p>
            <a:pPr>
              <a:spcBef>
                <a:spcPts val="400"/>
              </a:spcBef>
              <a:defRPr sz="1050" b="1">
                <a:solidFill>
                  <a:srgbClr val="0F172A"/>
                </a:solidFill>
              </a:defRPr>
            </a:pPr>
            <a:r>
              <a:t>Tailored to African Morphology:</a:t>
            </a:r>
          </a:p>
          <a:p>
            <a:pPr>
              <a:spcBef>
                <a:spcPts val="600"/>
              </a:spcBef>
              <a:defRPr sz="1000">
                <a:solidFill>
                  <a:srgbClr val="475569"/>
                </a:solidFill>
              </a:defRPr>
            </a:pPr>
            <a:r>
              <a:t>• Word n-grams (1-2): Captures semantic unigrams and phrases with sublinear TF scaling.</a:t>
            </a:r>
            <a:br/>
            <a:r>
              <a:t>• Character n-grams (2-4): Word-boundary char n-grams capture agglutinative affixes and social code-switching.</a:t>
            </a:r>
            <a:br/>
            <a:r>
              <a:t>• Balanced Logistic Regression: Inverse-frequency class weights counteract majority-class gradient drowning.</a:t>
            </a:r>
            <a:br/>
            <a:r>
              <a:t>• Deterministic Execution: Fixed SEED=42 ensures exact scientific reproducibility across all runs.</a:t>
            </a:r>
          </a:p>
        </p:txBody>
      </p:sp>
      <p:sp>
        <p:nvSpPr>
          <p:cNvPr id="6" name="Rectangle 5"/>
          <p:cNvSpPr/>
          <p:nvPr/>
        </p:nvSpPr>
        <p:spPr>
          <a:xfrm>
            <a:off x="4389120" y="1371600"/>
            <a:ext cx="3429000" cy="493776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1E3A8A"/>
                </a:solidFill>
              </a:defRPr>
            </a:pPr>
            <a:r>
              <a:t>2. Adaptive ECE with Bootstrap CIs</a:t>
            </a:r>
          </a:p>
          <a:p>
            <a:pPr>
              <a:spcBef>
                <a:spcPts val="400"/>
              </a:spcBef>
              <a:defRPr sz="1050" b="1">
                <a:solidFill>
                  <a:srgbClr val="0F172A"/>
                </a:solidFill>
              </a:defRPr>
            </a:pPr>
            <a:r>
              <a:t>One-vs-Rest Equal-Mass Binning:</a:t>
            </a:r>
          </a:p>
          <a:p>
            <a:pPr>
              <a:spcBef>
                <a:spcPts val="600"/>
              </a:spcBef>
              <a:defRPr sz="1000">
                <a:solidFill>
                  <a:srgbClr val="475569"/>
                </a:solidFill>
              </a:defRPr>
            </a:pPr>
            <a:r>
              <a:t>• Equal-Mass (Adaptive) Quantiles: Standard equal-width bins produce empty cells on skewed classes; equal-mass ensures every bin has equal sample mass (M=10 bins).</a:t>
            </a:r>
            <a:br/>
            <a:r>
              <a:t>• Formal Formulation:</a:t>
            </a:r>
            <a:br/>
            <a:r>
              <a:t>  ECE_c = SUM (|B_m| / N) * |p_bar_m - y_bar_m|</a:t>
            </a:r>
            <a:br/>
            <a:r>
              <a:t>• 95% Bootstrap CIs: 1,000 resamplings quantify uncertainty arising from small minority cells (N=100-106).</a:t>
            </a:r>
            <a:br/>
            <a:r>
              <a:t>• Reliability Curves: Diagonal tracks perfect calibration; dot sizes encode bin support.</a:t>
            </a:r>
          </a:p>
        </p:txBody>
      </p:sp>
      <p:sp>
        <p:nvSpPr>
          <p:cNvPr id="7" name="Rectangle 6"/>
          <p:cNvSpPr/>
          <p:nvPr/>
        </p:nvSpPr>
        <p:spPr>
          <a:xfrm>
            <a:off x="8046720" y="1371600"/>
            <a:ext cx="3429000" cy="493776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DC2626"/>
                </a:solidFill>
              </a:defRPr>
            </a:pPr>
            <a:r>
              <a:t>3. Blinding Quantity &amp; Scaling</a:t>
            </a:r>
          </a:p>
          <a:p>
            <a:pPr>
              <a:spcBef>
                <a:spcPts val="400"/>
              </a:spcBef>
              <a:defRPr sz="1050" b="1">
                <a:solidFill>
                  <a:srgbClr val="0F172A"/>
                </a:solidFill>
              </a:defRPr>
            </a:pPr>
            <a:r>
              <a:t>Operationalizing Triage Risk:</a:t>
            </a:r>
          </a:p>
          <a:p>
            <a:pPr>
              <a:spcBef>
                <a:spcPts val="600"/>
              </a:spcBef>
              <a:defRPr sz="1000">
                <a:solidFill>
                  <a:srgbClr val="475569"/>
                </a:solidFill>
              </a:defRPr>
            </a:pPr>
            <a:r>
              <a:t>• The Blinding Quantity (tau &gt;= 0.70):</a:t>
            </a:r>
            <a:br/>
            <a:r>
              <a:t>  Blinding_c = (Class c Errors with max p &gt;= 0.70) / (Total Class c Errors)</a:t>
            </a:r>
            <a:br/>
            <a:r>
              <a:t>• Operational Consequence: Measures the fraction of errors filed under 'Trust Me' that bypass human review.</a:t>
            </a:r>
            <a:br/>
            <a:r>
              <a:t>• Post-Hoc Temperature Scaling:</a:t>
            </a:r>
            <a:br/>
            <a:r>
              <a:t>  p_hat = softmax(z / T)</a:t>
            </a:r>
            <a:br/>
            <a:r>
              <a:t>  Scalar T fit on validation NLL via bounded L-BFGS-B (bounds [0.01, 10.0]). Test set strictly held out.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EMPIRICAL FINDINGS: CLASSIFICATION PERFORMANCE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Test Set Evaluation Reveals Severe Minority Class Recall Collapse in Twi</a:t>
            </a:r>
          </a:p>
        </p:txBody>
      </p:sp>
      <p:graphicFrame>
        <p:nvGraphicFramePr>
          <p:cNvPr id="5" name="Table 4"/>
          <p:cNvGraphicFramePr>
            <a:graphicFrameLocks noGrp="1"/>
          </p:cNvGraphicFramePr>
          <p:nvPr/>
        </p:nvGraphicFramePr>
        <p:xfrm>
          <a:off x="731520" y="1371600"/>
          <a:ext cx="5303520" cy="2377440"/>
        </p:xfrm>
        <a:graphic>
          <a:graphicData uri="http://schemas.openxmlformats.org/drawingml/2006/table">
            <a:tbl>
              <a:tblPr firstRow="1" bandRow="1">
                <a:tableStyleId>{5C22544A-7EE6-4342-B048-85BDC9FD1C3A}</a:tableStyleId>
              </a:tblPr>
              <a:tblGrid>
                <a:gridCol w="883920">
                  <a:extLst>
                    <a:ext uri="{9D8B030D-6E8A-4147-A177-3AD203B41FA5}">
                      <a16:colId xmlns:a16="http://schemas.microsoft.com/office/drawing/2014/main" val="20000"/>
                    </a:ext>
                  </a:extLst>
                </a:gridCol>
                <a:gridCol w="883920">
                  <a:extLst>
                    <a:ext uri="{9D8B030D-6E8A-4147-A177-3AD203B41FA5}">
                      <a16:colId xmlns:a16="http://schemas.microsoft.com/office/drawing/2014/main" val="20001"/>
                    </a:ext>
                  </a:extLst>
                </a:gridCol>
                <a:gridCol w="883920">
                  <a:extLst>
                    <a:ext uri="{9D8B030D-6E8A-4147-A177-3AD203B41FA5}">
                      <a16:colId xmlns:a16="http://schemas.microsoft.com/office/drawing/2014/main" val="20002"/>
                    </a:ext>
                  </a:extLst>
                </a:gridCol>
                <a:gridCol w="883920">
                  <a:extLst>
                    <a:ext uri="{9D8B030D-6E8A-4147-A177-3AD203B41FA5}">
                      <a16:colId xmlns:a16="http://schemas.microsoft.com/office/drawing/2014/main" val="20003"/>
                    </a:ext>
                  </a:extLst>
                </a:gridCol>
                <a:gridCol w="883920">
                  <a:extLst>
                    <a:ext uri="{9D8B030D-6E8A-4147-A177-3AD203B41FA5}">
                      <a16:colId xmlns:a16="http://schemas.microsoft.com/office/drawing/2014/main" val="20004"/>
                    </a:ext>
                  </a:extLst>
                </a:gridCol>
                <a:gridCol w="883920">
                  <a:extLst>
                    <a:ext uri="{9D8B030D-6E8A-4147-A177-3AD203B41FA5}">
                      <a16:colId xmlns:a16="http://schemas.microsoft.com/office/drawing/2014/main" val="20005"/>
                    </a:ext>
                  </a:extLst>
                </a:gridCol>
              </a:tblGrid>
              <a:tr h="264160">
                <a:tc>
                  <a:txBody>
                    <a:bodyPr/>
                    <a:lstStyle/>
                    <a:p>
                      <a:pPr algn="ctr">
                        <a:defRPr sz="850" b="1">
                          <a:solidFill>
                            <a:srgbClr val="FFFFFF"/>
                          </a:solidFill>
                        </a:defRPr>
                      </a:pPr>
                      <a:r>
                        <a:t>Language</a:t>
                      </a:r>
                    </a:p>
                  </a:txBody>
                  <a:tcPr>
                    <a:solidFill>
                      <a:srgbClr val="1E293B"/>
                    </a:solidFill>
                  </a:tcPr>
                </a:tc>
                <a:tc>
                  <a:txBody>
                    <a:bodyPr/>
                    <a:lstStyle/>
                    <a:p>
                      <a:pPr algn="ctr">
                        <a:defRPr sz="850" b="1">
                          <a:solidFill>
                            <a:srgbClr val="FFFFFF"/>
                          </a:solidFill>
                        </a:defRPr>
                      </a:pPr>
                      <a:r>
                        <a:t>Class</a:t>
                      </a:r>
                    </a:p>
                  </a:txBody>
                  <a:tcPr>
                    <a:solidFill>
                      <a:srgbClr val="1E293B"/>
                    </a:solidFill>
                  </a:tcPr>
                </a:tc>
                <a:tc>
                  <a:txBody>
                    <a:bodyPr/>
                    <a:lstStyle/>
                    <a:p>
                      <a:pPr algn="ctr">
                        <a:defRPr sz="850" b="1">
                          <a:solidFill>
                            <a:srgbClr val="FFFFFF"/>
                          </a:solidFill>
                        </a:defRPr>
                      </a:pPr>
                      <a:r>
                        <a:t>Precision</a:t>
                      </a:r>
                    </a:p>
                  </a:txBody>
                  <a:tcPr>
                    <a:solidFill>
                      <a:srgbClr val="1E293B"/>
                    </a:solidFill>
                  </a:tcPr>
                </a:tc>
                <a:tc>
                  <a:txBody>
                    <a:bodyPr/>
                    <a:lstStyle/>
                    <a:p>
                      <a:pPr algn="ctr">
                        <a:defRPr sz="850" b="1">
                          <a:solidFill>
                            <a:srgbClr val="FFFFFF"/>
                          </a:solidFill>
                        </a:defRPr>
                      </a:pPr>
                      <a:r>
                        <a:t>Recall</a:t>
                      </a:r>
                    </a:p>
                  </a:txBody>
                  <a:tcPr>
                    <a:solidFill>
                      <a:srgbClr val="1E293B"/>
                    </a:solidFill>
                  </a:tcPr>
                </a:tc>
                <a:tc>
                  <a:txBody>
                    <a:bodyPr/>
                    <a:lstStyle/>
                    <a:p>
                      <a:pPr algn="ctr">
                        <a:defRPr sz="850" b="1">
                          <a:solidFill>
                            <a:srgbClr val="FFFFFF"/>
                          </a:solidFill>
                        </a:defRPr>
                      </a:pPr>
                      <a:r>
                        <a:t>F1</a:t>
                      </a:r>
                    </a:p>
                  </a:txBody>
                  <a:tcPr>
                    <a:solidFill>
                      <a:srgbClr val="1E293B"/>
                    </a:solidFill>
                  </a:tcPr>
                </a:tc>
                <a:tc>
                  <a:txBody>
                    <a:bodyPr/>
                    <a:lstStyle/>
                    <a:p>
                      <a:pPr algn="ctr">
                        <a:defRPr sz="850" b="1">
                          <a:solidFill>
                            <a:srgbClr val="FFFFFF"/>
                          </a:solidFill>
                        </a:defRPr>
                      </a:pPr>
                      <a:r>
                        <a:t>Support</a:t>
                      </a:r>
                    </a:p>
                  </a:txBody>
                  <a:tcPr>
                    <a:solidFill>
                      <a:srgbClr val="1E293B"/>
                    </a:solidFill>
                  </a:tcPr>
                </a:tc>
                <a:extLst>
                  <a:ext uri="{0D108BD9-81ED-4DB2-BD59-A6C34878D82A}">
                    <a16:rowId xmlns:a16="http://schemas.microsoft.com/office/drawing/2014/main" val="10000"/>
                  </a:ext>
                </a:extLst>
              </a:tr>
              <a:tr h="264160">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0.87</a:t>
                      </a:r>
                    </a:p>
                  </a:txBody>
                  <a:tcPr>
                    <a:solidFill>
                      <a:srgbClr val="FFFFFF"/>
                    </a:solidFill>
                  </a:tcPr>
                </a:tc>
                <a:tc>
                  <a:txBody>
                    <a:bodyPr/>
                    <a:lstStyle/>
                    <a:p>
                      <a:pPr algn="ctr">
                        <a:defRPr sz="850" b="0">
                          <a:solidFill>
                            <a:srgbClr val="0F172A"/>
                          </a:solidFill>
                        </a:defRPr>
                      </a:pPr>
                      <a:r>
                        <a:t>0.98</a:t>
                      </a:r>
                    </a:p>
                  </a:txBody>
                  <a:tcPr>
                    <a:solidFill>
                      <a:srgbClr val="FFFFFF"/>
                    </a:solidFill>
                  </a:tcPr>
                </a:tc>
                <a:tc>
                  <a:txBody>
                    <a:bodyPr/>
                    <a:lstStyle/>
                    <a:p>
                      <a:pPr algn="ctr">
                        <a:defRPr sz="850" b="0">
                          <a:solidFill>
                            <a:srgbClr val="0F172A"/>
                          </a:solidFill>
                        </a:defRPr>
                      </a:pPr>
                      <a:r>
                        <a:t>0.92</a:t>
                      </a:r>
                    </a:p>
                  </a:txBody>
                  <a:tcPr>
                    <a:solidFill>
                      <a:srgbClr val="FFFFFF"/>
                    </a:solidFill>
                  </a:tcPr>
                </a:tc>
                <a:tc>
                  <a:txBody>
                    <a:bodyPr/>
                    <a:lstStyle/>
                    <a:p>
                      <a:pPr algn="ctr">
                        <a:defRPr sz="850" b="0">
                          <a:solidFill>
                            <a:srgbClr val="0F172A"/>
                          </a:solidFill>
                        </a:defRPr>
                      </a:pPr>
                      <a:r>
                        <a:t>492</a:t>
                      </a:r>
                    </a:p>
                  </a:txBody>
                  <a:tcPr>
                    <a:solidFill>
                      <a:srgbClr val="FFFFFF"/>
                    </a:solidFill>
                  </a:tcPr>
                </a:tc>
                <a:extLst>
                  <a:ext uri="{0D108BD9-81ED-4DB2-BD59-A6C34878D82A}">
                    <a16:rowId xmlns:a16="http://schemas.microsoft.com/office/drawing/2014/main" val="10001"/>
                  </a:ext>
                </a:extLst>
              </a:tr>
              <a:tr h="264160">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0.56</a:t>
                      </a:r>
                    </a:p>
                  </a:txBody>
                  <a:tcPr>
                    <a:solidFill>
                      <a:srgbClr val="FFFFFF"/>
                    </a:solidFill>
                  </a:tcPr>
                </a:tc>
                <a:tc>
                  <a:txBody>
                    <a:bodyPr/>
                    <a:lstStyle/>
                    <a:p>
                      <a:pPr algn="ctr">
                        <a:defRPr sz="850" b="0">
                          <a:solidFill>
                            <a:srgbClr val="0F172A"/>
                          </a:solidFill>
                        </a:defRPr>
                      </a:pPr>
                      <a:r>
                        <a:t>0.70</a:t>
                      </a:r>
                    </a:p>
                  </a:txBody>
                  <a:tcPr>
                    <a:solidFill>
                      <a:srgbClr val="FFFFFF"/>
                    </a:solidFill>
                  </a:tcPr>
                </a:tc>
                <a:tc>
                  <a:txBody>
                    <a:bodyPr/>
                    <a:lstStyle/>
                    <a:p>
                      <a:pPr algn="ctr">
                        <a:defRPr sz="850" b="0">
                          <a:solidFill>
                            <a:srgbClr val="0F172A"/>
                          </a:solidFill>
                        </a:defRPr>
                      </a:pPr>
                      <a:r>
                        <a:t>0.62</a:t>
                      </a:r>
                    </a:p>
                  </a:txBody>
                  <a:tcPr>
                    <a:solidFill>
                      <a:srgbClr val="FFFFFF"/>
                    </a:solidFill>
                  </a:tcPr>
                </a:tc>
                <a:tc>
                  <a:txBody>
                    <a:bodyPr/>
                    <a:lstStyle/>
                    <a:p>
                      <a:pPr algn="ctr">
                        <a:defRPr sz="850" b="0">
                          <a:solidFill>
                            <a:srgbClr val="0F172A"/>
                          </a:solidFill>
                        </a:defRPr>
                      </a:pPr>
                      <a:r>
                        <a:t>100</a:t>
                      </a:r>
                    </a:p>
                  </a:txBody>
                  <a:tcPr>
                    <a:solidFill>
                      <a:srgbClr val="FFFFFF"/>
                    </a:solidFill>
                  </a:tcPr>
                </a:tc>
                <a:extLst>
                  <a:ext uri="{0D108BD9-81ED-4DB2-BD59-A6C34878D82A}">
                    <a16:rowId xmlns:a16="http://schemas.microsoft.com/office/drawing/2014/main" val="10002"/>
                  </a:ext>
                </a:extLst>
              </a:tr>
              <a:tr h="264160">
                <a:tc>
                  <a:txBody>
                    <a:bodyPr/>
                    <a:lstStyle/>
                    <a:p>
                      <a:pPr algn="ctr">
                        <a:defRPr sz="850" b="0">
                          <a:solidFill>
                            <a:srgbClr val="0F172A"/>
                          </a:solidFill>
                        </a:defRPr>
                      </a:pPr>
                      <a:r>
                        <a:t>Twi</a:t>
                      </a:r>
                    </a:p>
                  </a:txBody>
                  <a:tcPr>
                    <a:solidFill>
                      <a:srgbClr val="FEF2F2"/>
                    </a:solidFill>
                  </a:tcPr>
                </a:tc>
                <a:tc>
                  <a:txBody>
                    <a:bodyPr/>
                    <a:lstStyle/>
                    <a:p>
                      <a:pPr algn="ctr">
                        <a:defRPr sz="850" b="0">
                          <a:solidFill>
                            <a:srgbClr val="0F172A"/>
                          </a:solidFill>
                        </a:defRPr>
                      </a:pPr>
                      <a:r>
                        <a:t>Normal</a:t>
                      </a:r>
                    </a:p>
                  </a:txBody>
                  <a:tcPr>
                    <a:solidFill>
                      <a:srgbClr val="FEF2F2"/>
                    </a:solidFill>
                  </a:tcPr>
                </a:tc>
                <a:tc>
                  <a:txBody>
                    <a:bodyPr/>
                    <a:lstStyle/>
                    <a:p>
                      <a:pPr algn="ctr">
                        <a:defRPr sz="850" b="0">
                          <a:solidFill>
                            <a:srgbClr val="0F172A"/>
                          </a:solidFill>
                        </a:defRPr>
                      </a:pPr>
                      <a:r>
                        <a:t>0.75</a:t>
                      </a:r>
                    </a:p>
                  </a:txBody>
                  <a:tcPr>
                    <a:solidFill>
                      <a:srgbClr val="FEF2F2"/>
                    </a:solidFill>
                  </a:tcPr>
                </a:tc>
                <a:tc>
                  <a:txBody>
                    <a:bodyPr/>
                    <a:lstStyle/>
                    <a:p>
                      <a:pPr algn="ctr">
                        <a:defRPr sz="850" b="1">
                          <a:solidFill>
                            <a:srgbClr val="DC2626"/>
                          </a:solidFill>
                        </a:defRPr>
                      </a:pPr>
                      <a:r>
                        <a:t>0.14</a:t>
                      </a:r>
                    </a:p>
                  </a:txBody>
                  <a:tcPr>
                    <a:solidFill>
                      <a:srgbClr val="FEF2F2"/>
                    </a:solidFill>
                  </a:tcPr>
                </a:tc>
                <a:tc>
                  <a:txBody>
                    <a:bodyPr/>
                    <a:lstStyle/>
                    <a:p>
                      <a:pPr algn="ctr">
                        <a:defRPr sz="850" b="1">
                          <a:solidFill>
                            <a:srgbClr val="DC2626"/>
                          </a:solidFill>
                        </a:defRPr>
                      </a:pPr>
                      <a:r>
                        <a:t>0.24</a:t>
                      </a:r>
                    </a:p>
                  </a:txBody>
                  <a:tcPr>
                    <a:solidFill>
                      <a:srgbClr val="FEF2F2"/>
                    </a:solidFill>
                  </a:tcPr>
                </a:tc>
                <a:tc>
                  <a:txBody>
                    <a:bodyPr/>
                    <a:lstStyle/>
                    <a:p>
                      <a:pPr algn="ctr">
                        <a:defRPr sz="850" b="0">
                          <a:solidFill>
                            <a:srgbClr val="0F172A"/>
                          </a:solidFill>
                        </a:defRPr>
                      </a:pPr>
                      <a:r>
                        <a:t>106</a:t>
                      </a:r>
                    </a:p>
                  </a:txBody>
                  <a:tcPr>
                    <a:solidFill>
                      <a:srgbClr val="FEF2F2"/>
                    </a:solidFill>
                  </a:tcPr>
                </a:tc>
                <a:extLst>
                  <a:ext uri="{0D108BD9-81ED-4DB2-BD59-A6C34878D82A}">
                    <a16:rowId xmlns:a16="http://schemas.microsoft.com/office/drawing/2014/main" val="10003"/>
                  </a:ext>
                </a:extLst>
              </a:tr>
              <a:tr h="264160">
                <a:tc>
                  <a:txBody>
                    <a:bodyPr/>
                    <a:lstStyle/>
                    <a:p>
                      <a:pPr algn="ctr">
                        <a:defRPr sz="850" b="1">
                          <a:solidFill>
                            <a:srgbClr val="0F172A"/>
                          </a:solidFill>
                        </a:defRPr>
                      </a:pPr>
                      <a:r>
                        <a:t>Twi</a:t>
                      </a:r>
                    </a:p>
                  </a:txBody>
                  <a:tcPr>
                    <a:solidFill>
                      <a:srgbClr val="F1F5F9"/>
                    </a:solidFill>
                  </a:tcPr>
                </a:tc>
                <a:tc>
                  <a:txBody>
                    <a:bodyPr/>
                    <a:lstStyle/>
                    <a:p>
                      <a:pPr algn="ctr">
                        <a:defRPr sz="850" b="1">
                          <a:solidFill>
                            <a:srgbClr val="0F172A"/>
                          </a:solidFill>
                        </a:defRPr>
                      </a:pPr>
                      <a:r>
                        <a:t>Macro Avg</a:t>
                      </a:r>
                    </a:p>
                  </a:txBody>
                  <a:tcPr>
                    <a:solidFill>
                      <a:srgbClr val="F1F5F9"/>
                    </a:solidFill>
                  </a:tcPr>
                </a:tc>
                <a:tc>
                  <a:txBody>
                    <a:bodyPr/>
                    <a:lstStyle/>
                    <a:p>
                      <a:pPr algn="ctr">
                        <a:defRPr sz="850" b="1">
                          <a:solidFill>
                            <a:srgbClr val="0F172A"/>
                          </a:solidFill>
                        </a:defRPr>
                      </a:pPr>
                      <a:r>
                        <a:t>0.73</a:t>
                      </a:r>
                    </a:p>
                  </a:txBody>
                  <a:tcPr>
                    <a:solidFill>
                      <a:srgbClr val="F1F5F9"/>
                    </a:solidFill>
                  </a:tcPr>
                </a:tc>
                <a:tc>
                  <a:txBody>
                    <a:bodyPr/>
                    <a:lstStyle/>
                    <a:p>
                      <a:pPr algn="ctr">
                        <a:defRPr sz="850" b="1">
                          <a:solidFill>
                            <a:srgbClr val="0F172A"/>
                          </a:solidFill>
                        </a:defRPr>
                      </a:pPr>
                      <a:r>
                        <a:t>0.61</a:t>
                      </a:r>
                    </a:p>
                  </a:txBody>
                  <a:tcPr>
                    <a:solidFill>
                      <a:srgbClr val="F1F5F9"/>
                    </a:solidFill>
                  </a:tcPr>
                </a:tc>
                <a:tc>
                  <a:txBody>
                    <a:bodyPr/>
                    <a:lstStyle/>
                    <a:p>
                      <a:pPr algn="ctr">
                        <a:defRPr sz="850" b="1">
                          <a:solidFill>
                            <a:srgbClr val="0F172A"/>
                          </a:solidFill>
                        </a:defRPr>
                      </a:pPr>
                      <a:r>
                        <a:t>0.59</a:t>
                      </a:r>
                    </a:p>
                  </a:txBody>
                  <a:tcPr>
                    <a:solidFill>
                      <a:srgbClr val="F1F5F9"/>
                    </a:solidFill>
                  </a:tcPr>
                </a:tc>
                <a:tc>
                  <a:txBody>
                    <a:bodyPr/>
                    <a:lstStyle/>
                    <a:p>
                      <a:pPr algn="ctr">
                        <a:defRPr sz="850" b="1">
                          <a:solidFill>
                            <a:srgbClr val="0F172A"/>
                          </a:solidFill>
                        </a:defRPr>
                      </a:pPr>
                      <a:r>
                        <a:t>698</a:t>
                      </a:r>
                    </a:p>
                  </a:txBody>
                  <a:tcPr>
                    <a:solidFill>
                      <a:srgbClr val="F1F5F9"/>
                    </a:solidFill>
                  </a:tcPr>
                </a:tc>
                <a:extLst>
                  <a:ext uri="{0D108BD9-81ED-4DB2-BD59-A6C34878D82A}">
                    <a16:rowId xmlns:a16="http://schemas.microsoft.com/office/drawing/2014/main" val="10004"/>
                  </a:ext>
                </a:extLst>
              </a:tr>
              <a:tr h="26416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0.75</a:t>
                      </a:r>
                    </a:p>
                  </a:txBody>
                  <a:tcPr>
                    <a:solidFill>
                      <a:srgbClr val="FFFFFF"/>
                    </a:solidFill>
                  </a:tcPr>
                </a:tc>
                <a:tc>
                  <a:txBody>
                    <a:bodyPr/>
                    <a:lstStyle/>
                    <a:p>
                      <a:pPr algn="ctr">
                        <a:defRPr sz="850" b="0">
                          <a:solidFill>
                            <a:srgbClr val="0F172A"/>
                          </a:solidFill>
                        </a:defRPr>
                      </a:pPr>
                      <a:r>
                        <a:t>0.72</a:t>
                      </a:r>
                    </a:p>
                  </a:txBody>
                  <a:tcPr>
                    <a:solidFill>
                      <a:srgbClr val="FFFFFF"/>
                    </a:solidFill>
                  </a:tcPr>
                </a:tc>
                <a:tc>
                  <a:txBody>
                    <a:bodyPr/>
                    <a:lstStyle/>
                    <a:p>
                      <a:pPr algn="ctr">
                        <a:defRPr sz="850" b="0">
                          <a:solidFill>
                            <a:srgbClr val="0F172A"/>
                          </a:solidFill>
                        </a:defRPr>
                      </a:pPr>
                      <a:r>
                        <a:t>0.74</a:t>
                      </a:r>
                    </a:p>
                  </a:txBody>
                  <a:tcPr>
                    <a:solidFill>
                      <a:srgbClr val="FFFFFF"/>
                    </a:solidFill>
                  </a:tcPr>
                </a:tc>
                <a:tc>
                  <a:txBody>
                    <a:bodyPr/>
                    <a:lstStyle/>
                    <a:p>
                      <a:pPr algn="ctr">
                        <a:defRPr sz="850" b="0">
                          <a:solidFill>
                            <a:srgbClr val="0F172A"/>
                          </a:solidFill>
                        </a:defRPr>
                      </a:pPr>
                      <a:r>
                        <a:t>351</a:t>
                      </a:r>
                    </a:p>
                  </a:txBody>
                  <a:tcPr>
                    <a:solidFill>
                      <a:srgbClr val="FFFFFF"/>
                    </a:solidFill>
                  </a:tcPr>
                </a:tc>
                <a:extLst>
                  <a:ext uri="{0D108BD9-81ED-4DB2-BD59-A6C34878D82A}">
                    <a16:rowId xmlns:a16="http://schemas.microsoft.com/office/drawing/2014/main" val="10005"/>
                  </a:ext>
                </a:extLst>
              </a:tr>
              <a:tr h="26416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0.82</a:t>
                      </a:r>
                    </a:p>
                  </a:txBody>
                  <a:tcPr>
                    <a:solidFill>
                      <a:srgbClr val="FFFFFF"/>
                    </a:solidFill>
                  </a:tcPr>
                </a:tc>
                <a:tc>
                  <a:txBody>
                    <a:bodyPr/>
                    <a:lstStyle/>
                    <a:p>
                      <a:pPr algn="ctr">
                        <a:defRPr sz="850" b="0">
                          <a:solidFill>
                            <a:srgbClr val="0F172A"/>
                          </a:solidFill>
                        </a:defRPr>
                      </a:pPr>
                      <a:r>
                        <a:t>0.53</a:t>
                      </a:r>
                    </a:p>
                  </a:txBody>
                  <a:tcPr>
                    <a:solidFill>
                      <a:srgbClr val="FFFFFF"/>
                    </a:solidFill>
                  </a:tcPr>
                </a:tc>
                <a:tc>
                  <a:txBody>
                    <a:bodyPr/>
                    <a:lstStyle/>
                    <a:p>
                      <a:pPr algn="ctr">
                        <a:defRPr sz="850" b="0">
                          <a:solidFill>
                            <a:srgbClr val="0F172A"/>
                          </a:solidFill>
                        </a:defRPr>
                      </a:pPr>
                      <a:r>
                        <a:t>0.65</a:t>
                      </a:r>
                    </a:p>
                  </a:txBody>
                  <a:tcPr>
                    <a:solidFill>
                      <a:srgbClr val="FFFFFF"/>
                    </a:solidFill>
                  </a:tcPr>
                </a:tc>
                <a:tc>
                  <a:txBody>
                    <a:bodyPr/>
                    <a:lstStyle/>
                    <a:p>
                      <a:pPr algn="ctr">
                        <a:defRPr sz="850" b="0">
                          <a:solidFill>
                            <a:srgbClr val="0F172A"/>
                          </a:solidFill>
                        </a:defRPr>
                      </a:pPr>
                      <a:r>
                        <a:t>103</a:t>
                      </a:r>
                    </a:p>
                  </a:txBody>
                  <a:tcPr>
                    <a:solidFill>
                      <a:srgbClr val="FFFFFF"/>
                    </a:solidFill>
                  </a:tcPr>
                </a:tc>
                <a:extLst>
                  <a:ext uri="{0D108BD9-81ED-4DB2-BD59-A6C34878D82A}">
                    <a16:rowId xmlns:a16="http://schemas.microsoft.com/office/drawing/2014/main" val="10006"/>
                  </a:ext>
                </a:extLst>
              </a:tr>
              <a:tr h="26416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Normal</a:t>
                      </a:r>
                    </a:p>
                  </a:txBody>
                  <a:tcPr>
                    <a:solidFill>
                      <a:srgbClr val="FFFFFF"/>
                    </a:solidFill>
                  </a:tcPr>
                </a:tc>
                <a:tc>
                  <a:txBody>
                    <a:bodyPr/>
                    <a:lstStyle/>
                    <a:p>
                      <a:pPr algn="ctr">
                        <a:defRPr sz="850" b="0">
                          <a:solidFill>
                            <a:srgbClr val="0F172A"/>
                          </a:solidFill>
                        </a:defRPr>
                      </a:pPr>
                      <a:r>
                        <a:t>0.80</a:t>
                      </a:r>
                    </a:p>
                  </a:txBody>
                  <a:tcPr>
                    <a:solidFill>
                      <a:srgbClr val="FFFFFF"/>
                    </a:solidFill>
                  </a:tcPr>
                </a:tc>
                <a:tc>
                  <a:txBody>
                    <a:bodyPr/>
                    <a:lstStyle/>
                    <a:p>
                      <a:pPr algn="ctr">
                        <a:defRPr sz="850" b="0">
                          <a:solidFill>
                            <a:srgbClr val="0F172A"/>
                          </a:solidFill>
                        </a:defRPr>
                      </a:pPr>
                      <a:r>
                        <a:t>0.87</a:t>
                      </a:r>
                    </a:p>
                  </a:txBody>
                  <a:tcPr>
                    <a:solidFill>
                      <a:srgbClr val="FFFFFF"/>
                    </a:solidFill>
                  </a:tcPr>
                </a:tc>
                <a:tc>
                  <a:txBody>
                    <a:bodyPr/>
                    <a:lstStyle/>
                    <a:p>
                      <a:pPr algn="ctr">
                        <a:defRPr sz="850" b="0">
                          <a:solidFill>
                            <a:srgbClr val="0F172A"/>
                          </a:solidFill>
                        </a:defRPr>
                      </a:pPr>
                      <a:r>
                        <a:t>0.83</a:t>
                      </a:r>
                    </a:p>
                  </a:txBody>
                  <a:tcPr>
                    <a:solidFill>
                      <a:srgbClr val="FFFFFF"/>
                    </a:solidFill>
                  </a:tcPr>
                </a:tc>
                <a:tc>
                  <a:txBody>
                    <a:bodyPr/>
                    <a:lstStyle/>
                    <a:p>
                      <a:pPr algn="ctr">
                        <a:defRPr sz="850" b="0">
                          <a:solidFill>
                            <a:srgbClr val="0F172A"/>
                          </a:solidFill>
                        </a:defRPr>
                      </a:pPr>
                      <a:r>
                        <a:t>595</a:t>
                      </a:r>
                    </a:p>
                  </a:txBody>
                  <a:tcPr>
                    <a:solidFill>
                      <a:srgbClr val="FFFFFF"/>
                    </a:solidFill>
                  </a:tcPr>
                </a:tc>
                <a:extLst>
                  <a:ext uri="{0D108BD9-81ED-4DB2-BD59-A6C34878D82A}">
                    <a16:rowId xmlns:a16="http://schemas.microsoft.com/office/drawing/2014/main" val="10007"/>
                  </a:ext>
                </a:extLst>
              </a:tr>
              <a:tr h="264160">
                <a:tc>
                  <a:txBody>
                    <a:bodyPr/>
                    <a:lstStyle/>
                    <a:p>
                      <a:pPr algn="ctr">
                        <a:defRPr sz="850" b="1">
                          <a:solidFill>
                            <a:srgbClr val="0F172A"/>
                          </a:solidFill>
                        </a:defRPr>
                      </a:pPr>
                      <a:r>
                        <a:t>Hausa</a:t>
                      </a:r>
                    </a:p>
                  </a:txBody>
                  <a:tcPr>
                    <a:solidFill>
                      <a:srgbClr val="F1F5F9"/>
                    </a:solidFill>
                  </a:tcPr>
                </a:tc>
                <a:tc>
                  <a:txBody>
                    <a:bodyPr/>
                    <a:lstStyle/>
                    <a:p>
                      <a:pPr algn="ctr">
                        <a:defRPr sz="850" b="1">
                          <a:solidFill>
                            <a:srgbClr val="0F172A"/>
                          </a:solidFill>
                        </a:defRPr>
                      </a:pPr>
                      <a:r>
                        <a:t>Macro Avg</a:t>
                      </a:r>
                    </a:p>
                  </a:txBody>
                  <a:tcPr>
                    <a:solidFill>
                      <a:srgbClr val="F1F5F9"/>
                    </a:solidFill>
                  </a:tcPr>
                </a:tc>
                <a:tc>
                  <a:txBody>
                    <a:bodyPr/>
                    <a:lstStyle/>
                    <a:p>
                      <a:pPr algn="ctr">
                        <a:defRPr sz="850" b="1">
                          <a:solidFill>
                            <a:srgbClr val="0F172A"/>
                          </a:solidFill>
                        </a:defRPr>
                      </a:pPr>
                      <a:r>
                        <a:t>0.79</a:t>
                      </a:r>
                    </a:p>
                  </a:txBody>
                  <a:tcPr>
                    <a:solidFill>
                      <a:srgbClr val="F1F5F9"/>
                    </a:solidFill>
                  </a:tcPr>
                </a:tc>
                <a:tc>
                  <a:txBody>
                    <a:bodyPr/>
                    <a:lstStyle/>
                    <a:p>
                      <a:pPr algn="ctr">
                        <a:defRPr sz="850" b="1">
                          <a:solidFill>
                            <a:srgbClr val="0F172A"/>
                          </a:solidFill>
                        </a:defRPr>
                      </a:pPr>
                      <a:r>
                        <a:t>0.71</a:t>
                      </a:r>
                    </a:p>
                  </a:txBody>
                  <a:tcPr>
                    <a:solidFill>
                      <a:srgbClr val="F1F5F9"/>
                    </a:solidFill>
                  </a:tcPr>
                </a:tc>
                <a:tc>
                  <a:txBody>
                    <a:bodyPr/>
                    <a:lstStyle/>
                    <a:p>
                      <a:pPr algn="ctr">
                        <a:defRPr sz="850" b="1">
                          <a:solidFill>
                            <a:srgbClr val="0F172A"/>
                          </a:solidFill>
                        </a:defRPr>
                      </a:pPr>
                      <a:r>
                        <a:t>0.74</a:t>
                      </a:r>
                    </a:p>
                  </a:txBody>
                  <a:tcPr>
                    <a:solidFill>
                      <a:srgbClr val="F1F5F9"/>
                    </a:solidFill>
                  </a:tcPr>
                </a:tc>
                <a:tc>
                  <a:txBody>
                    <a:bodyPr/>
                    <a:lstStyle/>
                    <a:p>
                      <a:pPr algn="ctr">
                        <a:defRPr sz="850" b="1">
                          <a:solidFill>
                            <a:srgbClr val="0F172A"/>
                          </a:solidFill>
                        </a:defRPr>
                      </a:pPr>
                      <a:r>
                        <a:t>1,049</a:t>
                      </a:r>
                    </a:p>
                  </a:txBody>
                  <a:tcPr>
                    <a:solidFill>
                      <a:srgbClr val="F1F5F9"/>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731520" y="3931920"/>
            <a:ext cx="5303520"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200" b="1">
                <a:solidFill>
                  <a:srgbClr val="2563EB"/>
                </a:solidFill>
              </a:defRPr>
            </a:pPr>
            <a:r>
              <a:t>Key Classification Insights:</a:t>
            </a:r>
          </a:p>
          <a:p>
            <a:pPr>
              <a:spcBef>
                <a:spcPts val="400"/>
              </a:spcBef>
            </a:pPr>
            <a:r>
              <a:rPr sz="950" b="1">
                <a:solidFill>
                  <a:srgbClr val="0F172A"/>
                </a:solidFill>
              </a:rPr>
              <a:t>• Twi Macro-F1 (0.59) vs Hausa (0.74):</a:t>
            </a:r>
            <a:r>
              <a:rPr sz="900">
                <a:solidFill>
                  <a:srgbClr val="475569"/>
                </a:solidFill>
              </a:rPr>
              <a:t> Hausa model shows significantly stronger and more balanced discrimination across all three categories.</a:t>
            </a:r>
          </a:p>
          <a:p>
            <a:pPr>
              <a:spcBef>
                <a:spcPts val="400"/>
              </a:spcBef>
            </a:pPr>
            <a:r>
              <a:rPr sz="950" b="1">
                <a:solidFill>
                  <a:srgbClr val="0F172A"/>
                </a:solidFill>
              </a:rPr>
              <a:t>• The Twi Normal Collapse (Recall = 0.14):</a:t>
            </a:r>
            <a:r>
              <a:rPr sz="900">
                <a:solidFill>
                  <a:srgbClr val="475569"/>
                </a:solidFill>
              </a:rPr>
              <a:t> The Twi model detects only 14% of innocent Normal posts. 86% of innocent speech is misclassified as Abuse or Hate.</a:t>
            </a:r>
          </a:p>
          <a:p>
            <a:pPr>
              <a:spcBef>
                <a:spcPts val="400"/>
              </a:spcBef>
            </a:pPr>
            <a:r>
              <a:rPr sz="950" b="1">
                <a:solidFill>
                  <a:srgbClr val="0F172A"/>
                </a:solidFill>
              </a:rPr>
              <a:t>• Majority-Class Bias:</a:t>
            </a:r>
            <a:r>
              <a:rPr sz="900">
                <a:solidFill>
                  <a:srgbClr val="475569"/>
                </a:solidFill>
              </a:rPr>
              <a:t> Twi achieves 98% recall on Abuse by aggressively defaulting to it, creating a severe over-censorship hazard for Ghanaian users.</a:t>
            </a:r>
          </a:p>
        </p:txBody>
      </p:sp>
      <p:pic>
        <p:nvPicPr>
          <p:cNvPr id="7" name="Picture 6" descr="confusion_classical.png"/>
          <p:cNvPicPr>
            <a:picLocks noChangeAspect="1"/>
          </p:cNvPicPr>
          <p:nvPr/>
        </p:nvPicPr>
        <p:blipFill>
          <a:blip r:embed="rId3"/>
          <a:stretch>
            <a:fillRect/>
          </a:stretch>
        </p:blipFill>
        <p:spPr>
          <a:xfrm>
            <a:off x="6217920" y="1371600"/>
            <a:ext cx="5212080" cy="1895302"/>
          </a:xfrm>
          <a:prstGeom prst="rect">
            <a:avLst/>
          </a:prstGeom>
        </p:spPr>
      </p:pic>
      <p:sp>
        <p:nvSpPr>
          <p:cNvPr id="8" name="TextBox 7"/>
          <p:cNvSpPr txBox="1"/>
          <p:nvPr/>
        </p:nvSpPr>
        <p:spPr>
          <a:xfrm>
            <a:off x="6217920" y="5303520"/>
            <a:ext cx="5212080" cy="914400"/>
          </a:xfrm>
          <a:prstGeom prst="rect">
            <a:avLst/>
          </a:prstGeom>
          <a:noFill/>
        </p:spPr>
        <p:txBody>
          <a:bodyPr wrap="square">
            <a:spAutoFit/>
          </a:bodyPr>
          <a:lstStyle/>
          <a:p>
            <a:pPr>
              <a:defRPr sz="950" i="1">
                <a:solidFill>
                  <a:srgbClr val="475569"/>
                </a:solidFill>
              </a:defRPr>
            </a:pPr>
            <a:r>
              <a:t>Figure 2: Normalized confusion matrices. In Twi, Normal posts are heavily misrouted to Abuse (0.42) and Hate (0.43). In Hausa, errors are symmetrically distributed between Abuse and Normal.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EMPIRICAL FINDINGS: PER-CLASS CALIBRATION (ECE)</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Twi Calibration is 2x Worse; Dominant Class Exhibits Highest Calibration Error</a:t>
            </a:r>
          </a:p>
        </p:txBody>
      </p:sp>
      <p:graphicFrame>
        <p:nvGraphicFramePr>
          <p:cNvPr id="5" name="Table 4"/>
          <p:cNvGraphicFramePr>
            <a:graphicFrameLocks noGrp="1"/>
          </p:cNvGraphicFramePr>
          <p:nvPr/>
        </p:nvGraphicFramePr>
        <p:xfrm>
          <a:off x="731520" y="1371600"/>
          <a:ext cx="5303520" cy="237744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264160">
                <a:tc>
                  <a:txBody>
                    <a:bodyPr/>
                    <a:lstStyle/>
                    <a:p>
                      <a:pPr algn="ctr">
                        <a:defRPr sz="850" b="1">
                          <a:solidFill>
                            <a:srgbClr val="FFFFFF"/>
                          </a:solidFill>
                        </a:defRPr>
                      </a:pPr>
                      <a:r>
                        <a:t>Language</a:t>
                      </a:r>
                    </a:p>
                  </a:txBody>
                  <a:tcPr>
                    <a:solidFill>
                      <a:srgbClr val="1E293B"/>
                    </a:solidFill>
                  </a:tcPr>
                </a:tc>
                <a:tc>
                  <a:txBody>
                    <a:bodyPr/>
                    <a:lstStyle/>
                    <a:p>
                      <a:pPr algn="ctr">
                        <a:defRPr sz="850" b="1">
                          <a:solidFill>
                            <a:srgbClr val="FFFFFF"/>
                          </a:solidFill>
                        </a:defRPr>
                      </a:pPr>
                      <a:r>
                        <a:t>Class</a:t>
                      </a:r>
                    </a:p>
                  </a:txBody>
                  <a:tcPr>
                    <a:solidFill>
                      <a:srgbClr val="1E293B"/>
                    </a:solidFill>
                  </a:tcPr>
                </a:tc>
                <a:tc>
                  <a:txBody>
                    <a:bodyPr/>
                    <a:lstStyle/>
                    <a:p>
                      <a:pPr algn="ctr">
                        <a:defRPr sz="850" b="1">
                          <a:solidFill>
                            <a:srgbClr val="FFFFFF"/>
                          </a:solidFill>
                        </a:defRPr>
                      </a:pPr>
                      <a:r>
                        <a:t>ECE (Equal-Mass)</a:t>
                      </a:r>
                    </a:p>
                  </a:txBody>
                  <a:tcPr>
                    <a:solidFill>
                      <a:srgbClr val="1E293B"/>
                    </a:solidFill>
                  </a:tcPr>
                </a:tc>
                <a:tc>
                  <a:txBody>
                    <a:bodyPr/>
                    <a:lstStyle/>
                    <a:p>
                      <a:pPr algn="ctr">
                        <a:defRPr sz="850" b="1">
                          <a:solidFill>
                            <a:srgbClr val="FFFFFF"/>
                          </a:solidFill>
                        </a:defRPr>
                      </a:pPr>
                      <a:r>
                        <a:t>95% Bootstrap CI</a:t>
                      </a:r>
                    </a:p>
                  </a:txBody>
                  <a:tcPr>
                    <a:solidFill>
                      <a:srgbClr val="1E293B"/>
                    </a:solidFill>
                  </a:tcPr>
                </a:tc>
                <a:extLst>
                  <a:ext uri="{0D108BD9-81ED-4DB2-BD59-A6C34878D82A}">
                    <a16:rowId xmlns:a16="http://schemas.microsoft.com/office/drawing/2014/main" val="10000"/>
                  </a:ext>
                </a:extLst>
              </a:tr>
              <a:tr h="264160">
                <a:tc>
                  <a:txBody>
                    <a:bodyPr/>
                    <a:lstStyle/>
                    <a:p>
                      <a:pPr algn="ctr">
                        <a:defRPr sz="850" b="1">
                          <a:solidFill>
                            <a:srgbClr val="0F172A"/>
                          </a:solidFill>
                        </a:defRPr>
                      </a:pPr>
                      <a:r>
                        <a:t>Twi</a:t>
                      </a:r>
                    </a:p>
                  </a:txBody>
                  <a:tcPr>
                    <a:solidFill>
                      <a:srgbClr val="FEF3C7"/>
                    </a:solidFill>
                  </a:tcPr>
                </a:tc>
                <a:tc>
                  <a:txBody>
                    <a:bodyPr/>
                    <a:lstStyle/>
                    <a:p>
                      <a:pPr algn="ctr">
                        <a:defRPr sz="850" b="1">
                          <a:solidFill>
                            <a:srgbClr val="0F172A"/>
                          </a:solidFill>
                        </a:defRPr>
                      </a:pPr>
                      <a:r>
                        <a:t>Abuse (Dominant)</a:t>
                      </a:r>
                    </a:p>
                  </a:txBody>
                  <a:tcPr>
                    <a:solidFill>
                      <a:srgbClr val="FEF3C7"/>
                    </a:solidFill>
                  </a:tcPr>
                </a:tc>
                <a:tc>
                  <a:txBody>
                    <a:bodyPr/>
                    <a:lstStyle/>
                    <a:p>
                      <a:pPr algn="ctr">
                        <a:defRPr sz="850" b="1">
                          <a:solidFill>
                            <a:srgbClr val="0F172A"/>
                          </a:solidFill>
                        </a:defRPr>
                      </a:pPr>
                      <a:r>
                        <a:t>0.0848</a:t>
                      </a:r>
                    </a:p>
                  </a:txBody>
                  <a:tcPr>
                    <a:solidFill>
                      <a:srgbClr val="FEF3C7"/>
                    </a:solidFill>
                  </a:tcPr>
                </a:tc>
                <a:tc>
                  <a:txBody>
                    <a:bodyPr/>
                    <a:lstStyle/>
                    <a:p>
                      <a:pPr algn="ctr">
                        <a:defRPr sz="850" b="1">
                          <a:solidFill>
                            <a:srgbClr val="0F172A"/>
                          </a:solidFill>
                        </a:defRPr>
                      </a:pPr>
                      <a:r>
                        <a:t>[0.065, 0.106]</a:t>
                      </a:r>
                    </a:p>
                  </a:txBody>
                  <a:tcPr>
                    <a:solidFill>
                      <a:srgbClr val="FEF3C7"/>
                    </a:solidFill>
                  </a:tcPr>
                </a:tc>
                <a:extLst>
                  <a:ext uri="{0D108BD9-81ED-4DB2-BD59-A6C34878D82A}">
                    <a16:rowId xmlns:a16="http://schemas.microsoft.com/office/drawing/2014/main" val="10001"/>
                  </a:ext>
                </a:extLst>
              </a:tr>
              <a:tr h="264160">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0.0828</a:t>
                      </a:r>
                    </a:p>
                  </a:txBody>
                  <a:tcPr>
                    <a:solidFill>
                      <a:srgbClr val="FFFFFF"/>
                    </a:solidFill>
                  </a:tcPr>
                </a:tc>
                <a:tc>
                  <a:txBody>
                    <a:bodyPr/>
                    <a:lstStyle/>
                    <a:p>
                      <a:pPr algn="ctr">
                        <a:defRPr sz="850" b="0">
                          <a:solidFill>
                            <a:srgbClr val="0F172A"/>
                          </a:solidFill>
                        </a:defRPr>
                      </a:pPr>
                      <a:r>
                        <a:t>[0.065, 0.103]</a:t>
                      </a:r>
                    </a:p>
                  </a:txBody>
                  <a:tcPr>
                    <a:solidFill>
                      <a:srgbClr val="FFFFFF"/>
                    </a:solidFill>
                  </a:tcPr>
                </a:tc>
                <a:extLst>
                  <a:ext uri="{0D108BD9-81ED-4DB2-BD59-A6C34878D82A}">
                    <a16:rowId xmlns:a16="http://schemas.microsoft.com/office/drawing/2014/main" val="10002"/>
                  </a:ext>
                </a:extLst>
              </a:tr>
              <a:tr h="264160">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Normal (Rare)</a:t>
                      </a:r>
                    </a:p>
                  </a:txBody>
                  <a:tcPr>
                    <a:solidFill>
                      <a:srgbClr val="FFFFFF"/>
                    </a:solidFill>
                  </a:tcPr>
                </a:tc>
                <a:tc>
                  <a:txBody>
                    <a:bodyPr/>
                    <a:lstStyle/>
                    <a:p>
                      <a:pPr algn="ctr">
                        <a:defRPr sz="850" b="0">
                          <a:solidFill>
                            <a:srgbClr val="0F172A"/>
                          </a:solidFill>
                        </a:defRPr>
                      </a:pPr>
                      <a:r>
                        <a:t>0.0643</a:t>
                      </a:r>
                    </a:p>
                  </a:txBody>
                  <a:tcPr>
                    <a:solidFill>
                      <a:srgbClr val="FFFFFF"/>
                    </a:solidFill>
                  </a:tcPr>
                </a:tc>
                <a:tc>
                  <a:txBody>
                    <a:bodyPr/>
                    <a:lstStyle/>
                    <a:p>
                      <a:pPr algn="ctr">
                        <a:defRPr sz="850" b="0">
                          <a:solidFill>
                            <a:srgbClr val="0F172A"/>
                          </a:solidFill>
                        </a:defRPr>
                      </a:pPr>
                      <a:r>
                        <a:t>[0.050, 0.091]</a:t>
                      </a:r>
                    </a:p>
                  </a:txBody>
                  <a:tcPr>
                    <a:solidFill>
                      <a:srgbClr val="FFFFFF"/>
                    </a:solidFill>
                  </a:tcPr>
                </a:tc>
                <a:extLst>
                  <a:ext uri="{0D108BD9-81ED-4DB2-BD59-A6C34878D82A}">
                    <a16:rowId xmlns:a16="http://schemas.microsoft.com/office/drawing/2014/main" val="10003"/>
                  </a:ext>
                </a:extLst>
              </a:tr>
              <a:tr h="264160">
                <a:tc>
                  <a:txBody>
                    <a:bodyPr/>
                    <a:lstStyle/>
                    <a:p>
                      <a:pPr algn="ctr">
                        <a:defRPr sz="850" b="1">
                          <a:solidFill>
                            <a:srgbClr val="0F172A"/>
                          </a:solidFill>
                        </a:defRPr>
                      </a:pPr>
                      <a:r>
                        <a:t>Twi</a:t>
                      </a:r>
                    </a:p>
                  </a:txBody>
                  <a:tcPr>
                    <a:solidFill>
                      <a:srgbClr val="F1F5F9"/>
                    </a:solidFill>
                  </a:tcPr>
                </a:tc>
                <a:tc>
                  <a:txBody>
                    <a:bodyPr/>
                    <a:lstStyle/>
                    <a:p>
                      <a:pPr algn="ctr">
                        <a:defRPr sz="850" b="1">
                          <a:solidFill>
                            <a:srgbClr val="0F172A"/>
                          </a:solidFill>
                        </a:defRPr>
                      </a:pPr>
                      <a:r>
                        <a:t>Macro Average</a:t>
                      </a:r>
                    </a:p>
                  </a:txBody>
                  <a:tcPr>
                    <a:solidFill>
                      <a:srgbClr val="F1F5F9"/>
                    </a:solidFill>
                  </a:tcPr>
                </a:tc>
                <a:tc>
                  <a:txBody>
                    <a:bodyPr/>
                    <a:lstStyle/>
                    <a:p>
                      <a:pPr algn="ctr">
                        <a:defRPr sz="850" b="1">
                          <a:solidFill>
                            <a:srgbClr val="0F172A"/>
                          </a:solidFill>
                        </a:defRPr>
                      </a:pPr>
                      <a:r>
                        <a:t>0.0773</a:t>
                      </a:r>
                    </a:p>
                  </a:txBody>
                  <a:tcPr>
                    <a:solidFill>
                      <a:srgbClr val="F1F5F9"/>
                    </a:solidFill>
                  </a:tcPr>
                </a:tc>
                <a:tc>
                  <a:txBody>
                    <a:bodyPr/>
                    <a:lstStyle/>
                    <a:p>
                      <a:pPr algn="ctr">
                        <a:defRPr sz="850" b="1">
                          <a:solidFill>
                            <a:srgbClr val="0F172A"/>
                          </a:solidFill>
                        </a:defRPr>
                      </a:pPr>
                      <a:r>
                        <a:t>—</a:t>
                      </a:r>
                    </a:p>
                  </a:txBody>
                  <a:tcPr>
                    <a:solidFill>
                      <a:srgbClr val="F1F5F9"/>
                    </a:solidFill>
                  </a:tcPr>
                </a:tc>
                <a:extLst>
                  <a:ext uri="{0D108BD9-81ED-4DB2-BD59-A6C34878D82A}">
                    <a16:rowId xmlns:a16="http://schemas.microsoft.com/office/drawing/2014/main" val="10004"/>
                  </a:ext>
                </a:extLst>
              </a:tr>
              <a:tr h="26416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0.0415</a:t>
                      </a:r>
                    </a:p>
                  </a:txBody>
                  <a:tcPr>
                    <a:solidFill>
                      <a:srgbClr val="FFFFFF"/>
                    </a:solidFill>
                  </a:tcPr>
                </a:tc>
                <a:tc>
                  <a:txBody>
                    <a:bodyPr/>
                    <a:lstStyle/>
                    <a:p>
                      <a:pPr algn="ctr">
                        <a:defRPr sz="850" b="0">
                          <a:solidFill>
                            <a:srgbClr val="0F172A"/>
                          </a:solidFill>
                        </a:defRPr>
                      </a:pPr>
                      <a:r>
                        <a:t>[0.034, 0.066]</a:t>
                      </a:r>
                    </a:p>
                  </a:txBody>
                  <a:tcPr>
                    <a:solidFill>
                      <a:srgbClr val="FFFFFF"/>
                    </a:solidFill>
                  </a:tcPr>
                </a:tc>
                <a:extLst>
                  <a:ext uri="{0D108BD9-81ED-4DB2-BD59-A6C34878D82A}">
                    <a16:rowId xmlns:a16="http://schemas.microsoft.com/office/drawing/2014/main" val="10005"/>
                  </a:ext>
                </a:extLst>
              </a:tr>
              <a:tr h="26416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Hate (Rare)</a:t>
                      </a:r>
                    </a:p>
                  </a:txBody>
                  <a:tcPr>
                    <a:solidFill>
                      <a:srgbClr val="FFFFFF"/>
                    </a:solidFill>
                  </a:tcPr>
                </a:tc>
                <a:tc>
                  <a:txBody>
                    <a:bodyPr/>
                    <a:lstStyle/>
                    <a:p>
                      <a:pPr algn="ctr">
                        <a:defRPr sz="850" b="0">
                          <a:solidFill>
                            <a:srgbClr val="0F172A"/>
                          </a:solidFill>
                        </a:defRPr>
                      </a:pPr>
                      <a:r>
                        <a:t>0.0243</a:t>
                      </a:r>
                    </a:p>
                  </a:txBody>
                  <a:tcPr>
                    <a:solidFill>
                      <a:srgbClr val="FFFFFF"/>
                    </a:solidFill>
                  </a:tcPr>
                </a:tc>
                <a:tc>
                  <a:txBody>
                    <a:bodyPr/>
                    <a:lstStyle/>
                    <a:p>
                      <a:pPr algn="ctr">
                        <a:defRPr sz="850" b="0">
                          <a:solidFill>
                            <a:srgbClr val="0F172A"/>
                          </a:solidFill>
                        </a:defRPr>
                      </a:pPr>
                      <a:r>
                        <a:t>[0.018, 0.039]</a:t>
                      </a:r>
                    </a:p>
                  </a:txBody>
                  <a:tcPr>
                    <a:solidFill>
                      <a:srgbClr val="FFFFFF"/>
                    </a:solidFill>
                  </a:tcPr>
                </a:tc>
                <a:extLst>
                  <a:ext uri="{0D108BD9-81ED-4DB2-BD59-A6C34878D82A}">
                    <a16:rowId xmlns:a16="http://schemas.microsoft.com/office/drawing/2014/main" val="10006"/>
                  </a:ext>
                </a:extLst>
              </a:tr>
              <a:tr h="264160">
                <a:tc>
                  <a:txBody>
                    <a:bodyPr/>
                    <a:lstStyle/>
                    <a:p>
                      <a:pPr algn="ctr">
                        <a:defRPr sz="850" b="1">
                          <a:solidFill>
                            <a:srgbClr val="0F172A"/>
                          </a:solidFill>
                        </a:defRPr>
                      </a:pPr>
                      <a:r>
                        <a:t>Hausa</a:t>
                      </a:r>
                    </a:p>
                  </a:txBody>
                  <a:tcPr>
                    <a:solidFill>
                      <a:srgbClr val="FEF3C7"/>
                    </a:solidFill>
                  </a:tcPr>
                </a:tc>
                <a:tc>
                  <a:txBody>
                    <a:bodyPr/>
                    <a:lstStyle/>
                    <a:p>
                      <a:pPr algn="ctr">
                        <a:defRPr sz="850" b="1">
                          <a:solidFill>
                            <a:srgbClr val="0F172A"/>
                          </a:solidFill>
                        </a:defRPr>
                      </a:pPr>
                      <a:r>
                        <a:t>Normal (Dominant)</a:t>
                      </a:r>
                    </a:p>
                  </a:txBody>
                  <a:tcPr>
                    <a:solidFill>
                      <a:srgbClr val="FEF3C7"/>
                    </a:solidFill>
                  </a:tcPr>
                </a:tc>
                <a:tc>
                  <a:txBody>
                    <a:bodyPr/>
                    <a:lstStyle/>
                    <a:p>
                      <a:pPr algn="ctr">
                        <a:defRPr sz="850" b="1">
                          <a:solidFill>
                            <a:srgbClr val="0F172A"/>
                          </a:solidFill>
                        </a:defRPr>
                      </a:pPr>
                      <a:r>
                        <a:t>0.0468</a:t>
                      </a:r>
                    </a:p>
                  </a:txBody>
                  <a:tcPr>
                    <a:solidFill>
                      <a:srgbClr val="FEF3C7"/>
                    </a:solidFill>
                  </a:tcPr>
                </a:tc>
                <a:tc>
                  <a:txBody>
                    <a:bodyPr/>
                    <a:lstStyle/>
                    <a:p>
                      <a:pPr algn="ctr">
                        <a:defRPr sz="850" b="1">
                          <a:solidFill>
                            <a:srgbClr val="0F172A"/>
                          </a:solidFill>
                        </a:defRPr>
                      </a:pPr>
                      <a:r>
                        <a:t>[0.040, 0.075]</a:t>
                      </a:r>
                    </a:p>
                  </a:txBody>
                  <a:tcPr>
                    <a:solidFill>
                      <a:srgbClr val="FEF3C7"/>
                    </a:solidFill>
                  </a:tcPr>
                </a:tc>
                <a:extLst>
                  <a:ext uri="{0D108BD9-81ED-4DB2-BD59-A6C34878D82A}">
                    <a16:rowId xmlns:a16="http://schemas.microsoft.com/office/drawing/2014/main" val="10007"/>
                  </a:ext>
                </a:extLst>
              </a:tr>
              <a:tr h="264160">
                <a:tc>
                  <a:txBody>
                    <a:bodyPr/>
                    <a:lstStyle/>
                    <a:p>
                      <a:pPr algn="ctr">
                        <a:defRPr sz="850" b="1">
                          <a:solidFill>
                            <a:srgbClr val="0F172A"/>
                          </a:solidFill>
                        </a:defRPr>
                      </a:pPr>
                      <a:r>
                        <a:t>Hausa</a:t>
                      </a:r>
                    </a:p>
                  </a:txBody>
                  <a:tcPr>
                    <a:solidFill>
                      <a:srgbClr val="F1F5F9"/>
                    </a:solidFill>
                  </a:tcPr>
                </a:tc>
                <a:tc>
                  <a:txBody>
                    <a:bodyPr/>
                    <a:lstStyle/>
                    <a:p>
                      <a:pPr algn="ctr">
                        <a:defRPr sz="850" b="1">
                          <a:solidFill>
                            <a:srgbClr val="0F172A"/>
                          </a:solidFill>
                        </a:defRPr>
                      </a:pPr>
                      <a:r>
                        <a:t>Macro Average</a:t>
                      </a:r>
                    </a:p>
                  </a:txBody>
                  <a:tcPr>
                    <a:solidFill>
                      <a:srgbClr val="F1F5F9"/>
                    </a:solidFill>
                  </a:tcPr>
                </a:tc>
                <a:tc>
                  <a:txBody>
                    <a:bodyPr/>
                    <a:lstStyle/>
                    <a:p>
                      <a:pPr algn="ctr">
                        <a:defRPr sz="850" b="1">
                          <a:solidFill>
                            <a:srgbClr val="0F172A"/>
                          </a:solidFill>
                        </a:defRPr>
                      </a:pPr>
                      <a:r>
                        <a:t>0.0375</a:t>
                      </a:r>
                    </a:p>
                  </a:txBody>
                  <a:tcPr>
                    <a:solidFill>
                      <a:srgbClr val="F1F5F9"/>
                    </a:solidFill>
                  </a:tcPr>
                </a:tc>
                <a:tc>
                  <a:txBody>
                    <a:bodyPr/>
                    <a:lstStyle/>
                    <a:p>
                      <a:pPr algn="ctr">
                        <a:defRPr sz="850" b="1">
                          <a:solidFill>
                            <a:srgbClr val="0F172A"/>
                          </a:solidFill>
                        </a:defRPr>
                      </a:pPr>
                      <a:r>
                        <a:t>—</a:t>
                      </a:r>
                    </a:p>
                  </a:txBody>
                  <a:tcPr>
                    <a:solidFill>
                      <a:srgbClr val="F1F5F9"/>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731520" y="3931920"/>
            <a:ext cx="5303520" cy="23774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200" b="1">
                <a:solidFill>
                  <a:srgbClr val="2563EB"/>
                </a:solidFill>
              </a:defRPr>
            </a:pPr>
            <a:r>
              <a:t>Surprising Theoretical Findings:</a:t>
            </a:r>
          </a:p>
          <a:p>
            <a:pPr>
              <a:spcBef>
                <a:spcPts val="400"/>
              </a:spcBef>
            </a:pPr>
            <a:r>
              <a:rPr sz="950" b="1">
                <a:solidFill>
                  <a:srgbClr val="0F172A"/>
                </a:solidFill>
              </a:rPr>
              <a:t>• Twi Calibration is 2x Worse:</a:t>
            </a:r>
            <a:r>
              <a:rPr sz="900">
                <a:solidFill>
                  <a:srgbClr val="475569"/>
                </a:solidFill>
              </a:rPr>
              <a:t> Macro ECE for Twi (0.077) is double that of Hausa (0.038), confirming Ahuja et al.'s finding on low-resource degradation.</a:t>
            </a:r>
          </a:p>
          <a:p>
            <a:pPr>
              <a:spcBef>
                <a:spcPts val="400"/>
              </a:spcBef>
            </a:pPr>
            <a:r>
              <a:rPr sz="950" b="1">
                <a:solidFill>
                  <a:srgbClr val="0F172A"/>
                </a:solidFill>
              </a:rPr>
              <a:t>• The Dominant Class Paradox:</a:t>
            </a:r>
            <a:r>
              <a:rPr sz="900">
                <a:solidFill>
                  <a:srgbClr val="475569"/>
                </a:solidFill>
              </a:rPr>
              <a:t> Contrary to our initial hypothesis, the dominant class carries the HIGHEST ECE in both languages (Abuse in Twi: 0.085; Normal in Hausa: 0.047).</a:t>
            </a:r>
          </a:p>
          <a:p>
            <a:pPr>
              <a:spcBef>
                <a:spcPts val="400"/>
              </a:spcBef>
            </a:pPr>
            <a:r>
              <a:rPr sz="950" b="1">
                <a:solidFill>
                  <a:srgbClr val="0F172A"/>
                </a:solidFill>
              </a:rPr>
              <a:t>• Why Dominant Classes Miscalibrate:</a:t>
            </a:r>
            <a:r>
              <a:rPr sz="900">
                <a:solidFill>
                  <a:srgbClr val="475569"/>
                </a:solidFill>
              </a:rPr>
              <a:t> Abundant training data causes the model to assign inflated confidence. Rare class predictions, when made, are appropriately hedged.</a:t>
            </a:r>
          </a:p>
        </p:txBody>
      </p:sp>
      <p:pic>
        <p:nvPicPr>
          <p:cNvPr id="7" name="Picture 6" descr="reliability_twi_classical.png"/>
          <p:cNvPicPr>
            <a:picLocks noChangeAspect="1"/>
          </p:cNvPicPr>
          <p:nvPr/>
        </p:nvPicPr>
        <p:blipFill>
          <a:blip r:embed="rId3"/>
          <a:stretch>
            <a:fillRect/>
          </a:stretch>
        </p:blipFill>
        <p:spPr>
          <a:xfrm>
            <a:off x="6217920" y="1371600"/>
            <a:ext cx="5212080" cy="1737360"/>
          </a:xfrm>
          <a:prstGeom prst="rect">
            <a:avLst/>
          </a:prstGeom>
        </p:spPr>
      </p:pic>
      <p:sp>
        <p:nvSpPr>
          <p:cNvPr id="8" name="TextBox 7"/>
          <p:cNvSpPr txBox="1"/>
          <p:nvPr/>
        </p:nvSpPr>
        <p:spPr>
          <a:xfrm>
            <a:off x="6217920" y="5303520"/>
            <a:ext cx="5212080" cy="914400"/>
          </a:xfrm>
          <a:prstGeom prst="rect">
            <a:avLst/>
          </a:prstGeom>
          <a:noFill/>
        </p:spPr>
        <p:txBody>
          <a:bodyPr wrap="square">
            <a:spAutoFit/>
          </a:bodyPr>
          <a:lstStyle/>
          <a:p>
            <a:pPr>
              <a:defRPr sz="950" i="1">
                <a:solidFill>
                  <a:srgbClr val="475569"/>
                </a:solidFill>
              </a:defRPr>
            </a:pPr>
            <a:r>
              <a:t>Figure 3: Twi reliability diagrams before (blue) and after (orange) temperature scaling across Abuse, Hate, and Normal classes. Notice the divergence in the Normal class.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CENTRAL FINDING: THE CALIBRATION TRAP</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Temperature Scaling Improves Aggregate ECE but Worsens Twi Normal by +42%</a:t>
            </a:r>
          </a:p>
        </p:txBody>
      </p:sp>
      <p:graphicFrame>
        <p:nvGraphicFramePr>
          <p:cNvPr id="5" name="Table 4"/>
          <p:cNvGraphicFramePr>
            <a:graphicFrameLocks noGrp="1"/>
          </p:cNvGraphicFramePr>
          <p:nvPr/>
        </p:nvGraphicFramePr>
        <p:xfrm>
          <a:off x="731520" y="1371600"/>
          <a:ext cx="6217920" cy="2560320"/>
        </p:xfrm>
        <a:graphic>
          <a:graphicData uri="http://schemas.openxmlformats.org/drawingml/2006/table">
            <a:tbl>
              <a:tblPr firstRow="1" bandRow="1">
                <a:tableStyleId>{5C22544A-7EE6-4342-B048-85BDC9FD1C3A}</a:tableStyleId>
              </a:tblPr>
              <a:tblGrid>
                <a:gridCol w="1036320">
                  <a:extLst>
                    <a:ext uri="{9D8B030D-6E8A-4147-A177-3AD203B41FA5}">
                      <a16:colId xmlns:a16="http://schemas.microsoft.com/office/drawing/2014/main" val="20000"/>
                    </a:ext>
                  </a:extLst>
                </a:gridCol>
                <a:gridCol w="103632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036320">
                  <a:extLst>
                    <a:ext uri="{9D8B030D-6E8A-4147-A177-3AD203B41FA5}">
                      <a16:colId xmlns:a16="http://schemas.microsoft.com/office/drawing/2014/main" val="20004"/>
                    </a:ext>
                  </a:extLst>
                </a:gridCol>
                <a:gridCol w="1036320">
                  <a:extLst>
                    <a:ext uri="{9D8B030D-6E8A-4147-A177-3AD203B41FA5}">
                      <a16:colId xmlns:a16="http://schemas.microsoft.com/office/drawing/2014/main" val="20005"/>
                    </a:ext>
                  </a:extLst>
                </a:gridCol>
              </a:tblGrid>
              <a:tr h="284480">
                <a:tc>
                  <a:txBody>
                    <a:bodyPr/>
                    <a:lstStyle/>
                    <a:p>
                      <a:pPr algn="ctr">
                        <a:defRPr sz="850" b="1">
                          <a:solidFill>
                            <a:srgbClr val="FFFFFF"/>
                          </a:solidFill>
                        </a:defRPr>
                      </a:pPr>
                      <a:r>
                        <a:t>Language</a:t>
                      </a:r>
                    </a:p>
                  </a:txBody>
                  <a:tcPr>
                    <a:solidFill>
                      <a:srgbClr val="1E293B"/>
                    </a:solidFill>
                  </a:tcPr>
                </a:tc>
                <a:tc>
                  <a:txBody>
                    <a:bodyPr/>
                    <a:lstStyle/>
                    <a:p>
                      <a:pPr algn="ctr">
                        <a:defRPr sz="850" b="1">
                          <a:solidFill>
                            <a:srgbClr val="FFFFFF"/>
                          </a:solidFill>
                        </a:defRPr>
                      </a:pPr>
                      <a:r>
                        <a:t>Optimal T</a:t>
                      </a:r>
                    </a:p>
                  </a:txBody>
                  <a:tcPr>
                    <a:solidFill>
                      <a:srgbClr val="1E293B"/>
                    </a:solidFill>
                  </a:tcPr>
                </a:tc>
                <a:tc>
                  <a:txBody>
                    <a:bodyPr/>
                    <a:lstStyle/>
                    <a:p>
                      <a:pPr algn="ctr">
                        <a:defRPr sz="850" b="1">
                          <a:solidFill>
                            <a:srgbClr val="FFFFFF"/>
                          </a:solidFill>
                        </a:defRPr>
                      </a:pPr>
                      <a:r>
                        <a:t>Class</a:t>
                      </a:r>
                    </a:p>
                  </a:txBody>
                  <a:tcPr>
                    <a:solidFill>
                      <a:srgbClr val="1E293B"/>
                    </a:solidFill>
                  </a:tcPr>
                </a:tc>
                <a:tc>
                  <a:txBody>
                    <a:bodyPr/>
                    <a:lstStyle/>
                    <a:p>
                      <a:pPr algn="ctr">
                        <a:defRPr sz="850" b="1">
                          <a:solidFill>
                            <a:srgbClr val="FFFFFF"/>
                          </a:solidFill>
                        </a:defRPr>
                      </a:pPr>
                      <a:r>
                        <a:t>ECE Before</a:t>
                      </a:r>
                    </a:p>
                  </a:txBody>
                  <a:tcPr>
                    <a:solidFill>
                      <a:srgbClr val="1E293B"/>
                    </a:solidFill>
                  </a:tcPr>
                </a:tc>
                <a:tc>
                  <a:txBody>
                    <a:bodyPr/>
                    <a:lstStyle/>
                    <a:p>
                      <a:pPr algn="ctr">
                        <a:defRPr sz="850" b="1">
                          <a:solidFill>
                            <a:srgbClr val="FFFFFF"/>
                          </a:solidFill>
                        </a:defRPr>
                      </a:pPr>
                      <a:r>
                        <a:t>ECE After</a:t>
                      </a:r>
                    </a:p>
                  </a:txBody>
                  <a:tcPr>
                    <a:solidFill>
                      <a:srgbClr val="1E293B"/>
                    </a:solidFill>
                  </a:tcPr>
                </a:tc>
                <a:tc>
                  <a:txBody>
                    <a:bodyPr/>
                    <a:lstStyle/>
                    <a:p>
                      <a:pPr algn="ctr">
                        <a:defRPr sz="850" b="1">
                          <a:solidFill>
                            <a:srgbClr val="FFFFFF"/>
                          </a:solidFill>
                        </a:defRPr>
                      </a:pPr>
                      <a:r>
                        <a:t>Delta / Outcome</a:t>
                      </a:r>
                    </a:p>
                  </a:txBody>
                  <a:tcPr>
                    <a:solidFill>
                      <a:srgbClr val="1E293B"/>
                    </a:solidFill>
                  </a:tcPr>
                </a:tc>
                <a:extLst>
                  <a:ext uri="{0D108BD9-81ED-4DB2-BD59-A6C34878D82A}">
                    <a16:rowId xmlns:a16="http://schemas.microsoft.com/office/drawing/2014/main" val="10000"/>
                  </a:ext>
                </a:extLst>
              </a:tr>
              <a:tr h="284480">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0.7106</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0.0848</a:t>
                      </a:r>
                    </a:p>
                  </a:txBody>
                  <a:tcPr>
                    <a:solidFill>
                      <a:srgbClr val="FFFFFF"/>
                    </a:solidFill>
                  </a:tcPr>
                </a:tc>
                <a:tc>
                  <a:txBody>
                    <a:bodyPr/>
                    <a:lstStyle/>
                    <a:p>
                      <a:pPr algn="ctr">
                        <a:defRPr sz="850" b="0">
                          <a:solidFill>
                            <a:srgbClr val="0F172A"/>
                          </a:solidFill>
                        </a:defRPr>
                      </a:pPr>
                      <a:r>
                        <a:t>0.0426</a:t>
                      </a:r>
                    </a:p>
                  </a:txBody>
                  <a:tcPr>
                    <a:solidFill>
                      <a:srgbClr val="FFFFFF"/>
                    </a:solidFill>
                  </a:tcPr>
                </a:tc>
                <a:tc>
                  <a:txBody>
                    <a:bodyPr/>
                    <a:lstStyle/>
                    <a:p>
                      <a:pPr algn="ctr">
                        <a:defRPr sz="850" b="0">
                          <a:solidFill>
                            <a:srgbClr val="0F172A"/>
                          </a:solidFill>
                        </a:defRPr>
                      </a:pPr>
                      <a:r>
                        <a:t>-0.042 (Improved)</a:t>
                      </a:r>
                    </a:p>
                  </a:txBody>
                  <a:tcPr>
                    <a:solidFill>
                      <a:srgbClr val="FFFFFF"/>
                    </a:solidFill>
                  </a:tcPr>
                </a:tc>
                <a:extLst>
                  <a:ext uri="{0D108BD9-81ED-4DB2-BD59-A6C34878D82A}">
                    <a16:rowId xmlns:a16="http://schemas.microsoft.com/office/drawing/2014/main" val="10001"/>
                  </a:ext>
                </a:extLst>
              </a:tr>
              <a:tr h="284480">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0.7106</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0.0828</a:t>
                      </a:r>
                    </a:p>
                  </a:txBody>
                  <a:tcPr>
                    <a:solidFill>
                      <a:srgbClr val="FFFFFF"/>
                    </a:solidFill>
                  </a:tcPr>
                </a:tc>
                <a:tc>
                  <a:txBody>
                    <a:bodyPr/>
                    <a:lstStyle/>
                    <a:p>
                      <a:pPr algn="ctr">
                        <a:defRPr sz="850" b="0">
                          <a:solidFill>
                            <a:srgbClr val="0F172A"/>
                          </a:solidFill>
                        </a:defRPr>
                      </a:pPr>
                      <a:r>
                        <a:t>0.0604</a:t>
                      </a:r>
                    </a:p>
                  </a:txBody>
                  <a:tcPr>
                    <a:solidFill>
                      <a:srgbClr val="FFFFFF"/>
                    </a:solidFill>
                  </a:tcPr>
                </a:tc>
                <a:tc>
                  <a:txBody>
                    <a:bodyPr/>
                    <a:lstStyle/>
                    <a:p>
                      <a:pPr algn="ctr">
                        <a:defRPr sz="850" b="0">
                          <a:solidFill>
                            <a:srgbClr val="0F172A"/>
                          </a:solidFill>
                        </a:defRPr>
                      </a:pPr>
                      <a:r>
                        <a:t>-0.022 (Improved)</a:t>
                      </a:r>
                    </a:p>
                  </a:txBody>
                  <a:tcPr>
                    <a:solidFill>
                      <a:srgbClr val="FFFFFF"/>
                    </a:solidFill>
                  </a:tcPr>
                </a:tc>
                <a:extLst>
                  <a:ext uri="{0D108BD9-81ED-4DB2-BD59-A6C34878D82A}">
                    <a16:rowId xmlns:a16="http://schemas.microsoft.com/office/drawing/2014/main" val="10002"/>
                  </a:ext>
                </a:extLst>
              </a:tr>
              <a:tr h="284480">
                <a:tc>
                  <a:txBody>
                    <a:bodyPr/>
                    <a:lstStyle/>
                    <a:p>
                      <a:pPr algn="ctr">
                        <a:defRPr sz="850" b="1">
                          <a:solidFill>
                            <a:srgbClr val="DC2626"/>
                          </a:solidFill>
                        </a:defRPr>
                      </a:pPr>
                      <a:r>
                        <a:t>Twi</a:t>
                      </a:r>
                    </a:p>
                  </a:txBody>
                  <a:tcPr>
                    <a:solidFill>
                      <a:srgbClr val="FEF2F2"/>
                    </a:solidFill>
                  </a:tcPr>
                </a:tc>
                <a:tc>
                  <a:txBody>
                    <a:bodyPr/>
                    <a:lstStyle/>
                    <a:p>
                      <a:pPr algn="ctr">
                        <a:defRPr sz="850" b="1">
                          <a:solidFill>
                            <a:srgbClr val="DC2626"/>
                          </a:solidFill>
                        </a:defRPr>
                      </a:pPr>
                      <a:r>
                        <a:t>0.7106</a:t>
                      </a:r>
                    </a:p>
                  </a:txBody>
                  <a:tcPr>
                    <a:solidFill>
                      <a:srgbClr val="FEF2F2"/>
                    </a:solidFill>
                  </a:tcPr>
                </a:tc>
                <a:tc>
                  <a:txBody>
                    <a:bodyPr/>
                    <a:lstStyle/>
                    <a:p>
                      <a:pPr algn="ctr">
                        <a:defRPr sz="850" b="1">
                          <a:solidFill>
                            <a:srgbClr val="DC2626"/>
                          </a:solidFill>
                        </a:defRPr>
                      </a:pPr>
                      <a:r>
                        <a:t>Normal</a:t>
                      </a:r>
                    </a:p>
                  </a:txBody>
                  <a:tcPr>
                    <a:solidFill>
                      <a:srgbClr val="FEF2F2"/>
                    </a:solidFill>
                  </a:tcPr>
                </a:tc>
                <a:tc>
                  <a:txBody>
                    <a:bodyPr/>
                    <a:lstStyle/>
                    <a:p>
                      <a:pPr algn="ctr">
                        <a:defRPr sz="850" b="1">
                          <a:solidFill>
                            <a:srgbClr val="DC2626"/>
                          </a:solidFill>
                        </a:defRPr>
                      </a:pPr>
                      <a:r>
                        <a:t>0.0643</a:t>
                      </a:r>
                    </a:p>
                  </a:txBody>
                  <a:tcPr>
                    <a:solidFill>
                      <a:srgbClr val="FEF2F2"/>
                    </a:solidFill>
                  </a:tcPr>
                </a:tc>
                <a:tc>
                  <a:txBody>
                    <a:bodyPr/>
                    <a:lstStyle/>
                    <a:p>
                      <a:pPr algn="ctr">
                        <a:defRPr sz="850" b="1">
                          <a:solidFill>
                            <a:srgbClr val="DC2626"/>
                          </a:solidFill>
                        </a:defRPr>
                      </a:pPr>
                      <a:r>
                        <a:t>0.0910</a:t>
                      </a:r>
                    </a:p>
                  </a:txBody>
                  <a:tcPr>
                    <a:solidFill>
                      <a:srgbClr val="FEF2F2"/>
                    </a:solidFill>
                  </a:tcPr>
                </a:tc>
                <a:tc>
                  <a:txBody>
                    <a:bodyPr/>
                    <a:lstStyle/>
                    <a:p>
                      <a:pPr algn="ctr">
                        <a:defRPr sz="850" b="1">
                          <a:solidFill>
                            <a:srgbClr val="DC2626"/>
                          </a:solidFill>
                        </a:defRPr>
                      </a:pPr>
                      <a:r>
                        <a:t>+0.027 (+42% WORSENED!)</a:t>
                      </a:r>
                    </a:p>
                  </a:txBody>
                  <a:tcPr>
                    <a:solidFill>
                      <a:srgbClr val="FEF2F2"/>
                    </a:solidFill>
                  </a:tcPr>
                </a:tc>
                <a:extLst>
                  <a:ext uri="{0D108BD9-81ED-4DB2-BD59-A6C34878D82A}">
                    <a16:rowId xmlns:a16="http://schemas.microsoft.com/office/drawing/2014/main" val="10003"/>
                  </a:ext>
                </a:extLst>
              </a:tr>
              <a:tr h="284480">
                <a:tc>
                  <a:txBody>
                    <a:bodyPr/>
                    <a:lstStyle/>
                    <a:p>
                      <a:pPr algn="ctr">
                        <a:defRPr sz="850" b="1">
                          <a:solidFill>
                            <a:srgbClr val="0F172A"/>
                          </a:solidFill>
                        </a:defRPr>
                      </a:pPr>
                      <a:r>
                        <a:t>Twi</a:t>
                      </a:r>
                    </a:p>
                  </a:txBody>
                  <a:tcPr>
                    <a:solidFill>
                      <a:srgbClr val="F1F5F9"/>
                    </a:solidFill>
                  </a:tcPr>
                </a:tc>
                <a:tc>
                  <a:txBody>
                    <a:bodyPr/>
                    <a:lstStyle/>
                    <a:p>
                      <a:pPr algn="ctr">
                        <a:defRPr sz="850" b="1">
                          <a:solidFill>
                            <a:srgbClr val="0F172A"/>
                          </a:solidFill>
                        </a:defRPr>
                      </a:pPr>
                      <a:r>
                        <a:t>—</a:t>
                      </a:r>
                    </a:p>
                  </a:txBody>
                  <a:tcPr>
                    <a:solidFill>
                      <a:srgbClr val="F1F5F9"/>
                    </a:solidFill>
                  </a:tcPr>
                </a:tc>
                <a:tc>
                  <a:txBody>
                    <a:bodyPr/>
                    <a:lstStyle/>
                    <a:p>
                      <a:pPr algn="ctr">
                        <a:defRPr sz="850" b="1">
                          <a:solidFill>
                            <a:srgbClr val="0F172A"/>
                          </a:solidFill>
                        </a:defRPr>
                      </a:pPr>
                      <a:r>
                        <a:t>Macro Avg</a:t>
                      </a:r>
                    </a:p>
                  </a:txBody>
                  <a:tcPr>
                    <a:solidFill>
                      <a:srgbClr val="F1F5F9"/>
                    </a:solidFill>
                  </a:tcPr>
                </a:tc>
                <a:tc>
                  <a:txBody>
                    <a:bodyPr/>
                    <a:lstStyle/>
                    <a:p>
                      <a:pPr algn="ctr">
                        <a:defRPr sz="850" b="1">
                          <a:solidFill>
                            <a:srgbClr val="0F172A"/>
                          </a:solidFill>
                        </a:defRPr>
                      </a:pPr>
                      <a:r>
                        <a:t>0.0773</a:t>
                      </a:r>
                    </a:p>
                  </a:txBody>
                  <a:tcPr>
                    <a:solidFill>
                      <a:srgbClr val="F1F5F9"/>
                    </a:solidFill>
                  </a:tcPr>
                </a:tc>
                <a:tc>
                  <a:txBody>
                    <a:bodyPr/>
                    <a:lstStyle/>
                    <a:p>
                      <a:pPr algn="ctr">
                        <a:defRPr sz="850" b="1">
                          <a:solidFill>
                            <a:srgbClr val="0F172A"/>
                          </a:solidFill>
                        </a:defRPr>
                      </a:pPr>
                      <a:r>
                        <a:t>0.0647</a:t>
                      </a:r>
                    </a:p>
                  </a:txBody>
                  <a:tcPr>
                    <a:solidFill>
                      <a:srgbClr val="F1F5F9"/>
                    </a:solidFill>
                  </a:tcPr>
                </a:tc>
                <a:tc>
                  <a:txBody>
                    <a:bodyPr/>
                    <a:lstStyle/>
                    <a:p>
                      <a:pPr algn="ctr">
                        <a:defRPr sz="850" b="1">
                          <a:solidFill>
                            <a:srgbClr val="0F172A"/>
                          </a:solidFill>
                        </a:defRPr>
                      </a:pPr>
                      <a:r>
                        <a:t>-0.013 (Deceptive Gain)</a:t>
                      </a:r>
                    </a:p>
                  </a:txBody>
                  <a:tcPr>
                    <a:solidFill>
                      <a:srgbClr val="F1F5F9"/>
                    </a:solidFill>
                  </a:tcPr>
                </a:tc>
                <a:extLst>
                  <a:ext uri="{0D108BD9-81ED-4DB2-BD59-A6C34878D82A}">
                    <a16:rowId xmlns:a16="http://schemas.microsoft.com/office/drawing/2014/main" val="10004"/>
                  </a:ext>
                </a:extLst>
              </a:tr>
              <a:tr h="28448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0.7907</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0.0415</a:t>
                      </a:r>
                    </a:p>
                  </a:txBody>
                  <a:tcPr>
                    <a:solidFill>
                      <a:srgbClr val="FFFFFF"/>
                    </a:solidFill>
                  </a:tcPr>
                </a:tc>
                <a:tc>
                  <a:txBody>
                    <a:bodyPr/>
                    <a:lstStyle/>
                    <a:p>
                      <a:pPr algn="ctr">
                        <a:defRPr sz="850" b="0">
                          <a:solidFill>
                            <a:srgbClr val="0F172A"/>
                          </a:solidFill>
                        </a:defRPr>
                      </a:pPr>
                      <a:r>
                        <a:t>0.0361</a:t>
                      </a:r>
                    </a:p>
                  </a:txBody>
                  <a:tcPr>
                    <a:solidFill>
                      <a:srgbClr val="FFFFFF"/>
                    </a:solidFill>
                  </a:tcPr>
                </a:tc>
                <a:tc>
                  <a:txBody>
                    <a:bodyPr/>
                    <a:lstStyle/>
                    <a:p>
                      <a:pPr algn="ctr">
                        <a:defRPr sz="850" b="0">
                          <a:solidFill>
                            <a:srgbClr val="0F172A"/>
                          </a:solidFill>
                        </a:defRPr>
                      </a:pPr>
                      <a:r>
                        <a:t>-0.005 (Improved)</a:t>
                      </a:r>
                    </a:p>
                  </a:txBody>
                  <a:tcPr>
                    <a:solidFill>
                      <a:srgbClr val="FFFFFF"/>
                    </a:solidFill>
                  </a:tcPr>
                </a:tc>
                <a:extLst>
                  <a:ext uri="{0D108BD9-81ED-4DB2-BD59-A6C34878D82A}">
                    <a16:rowId xmlns:a16="http://schemas.microsoft.com/office/drawing/2014/main" val="10005"/>
                  </a:ext>
                </a:extLst>
              </a:tr>
              <a:tr h="28448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0.7907</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0.0243</a:t>
                      </a:r>
                    </a:p>
                  </a:txBody>
                  <a:tcPr>
                    <a:solidFill>
                      <a:srgbClr val="FFFFFF"/>
                    </a:solidFill>
                  </a:tcPr>
                </a:tc>
                <a:tc>
                  <a:txBody>
                    <a:bodyPr/>
                    <a:lstStyle/>
                    <a:p>
                      <a:pPr algn="ctr">
                        <a:defRPr sz="850" b="0">
                          <a:solidFill>
                            <a:srgbClr val="0F172A"/>
                          </a:solidFill>
                        </a:defRPr>
                      </a:pPr>
                      <a:r>
                        <a:t>0.0109</a:t>
                      </a:r>
                    </a:p>
                  </a:txBody>
                  <a:tcPr>
                    <a:solidFill>
                      <a:srgbClr val="FFFFFF"/>
                    </a:solidFill>
                  </a:tcPr>
                </a:tc>
                <a:tc>
                  <a:txBody>
                    <a:bodyPr/>
                    <a:lstStyle/>
                    <a:p>
                      <a:pPr algn="ctr">
                        <a:defRPr sz="850" b="0">
                          <a:solidFill>
                            <a:srgbClr val="0F172A"/>
                          </a:solidFill>
                        </a:defRPr>
                      </a:pPr>
                      <a:r>
                        <a:t>-0.013 (Improved)</a:t>
                      </a:r>
                    </a:p>
                  </a:txBody>
                  <a:tcPr>
                    <a:solidFill>
                      <a:srgbClr val="FFFFFF"/>
                    </a:solidFill>
                  </a:tcPr>
                </a:tc>
                <a:extLst>
                  <a:ext uri="{0D108BD9-81ED-4DB2-BD59-A6C34878D82A}">
                    <a16:rowId xmlns:a16="http://schemas.microsoft.com/office/drawing/2014/main" val="10006"/>
                  </a:ext>
                </a:extLst>
              </a:tr>
              <a:tr h="284480">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0.7907</a:t>
                      </a:r>
                    </a:p>
                  </a:txBody>
                  <a:tcPr>
                    <a:solidFill>
                      <a:srgbClr val="FFFFFF"/>
                    </a:solidFill>
                  </a:tcPr>
                </a:tc>
                <a:tc>
                  <a:txBody>
                    <a:bodyPr/>
                    <a:lstStyle/>
                    <a:p>
                      <a:pPr algn="ctr">
                        <a:defRPr sz="850" b="0">
                          <a:solidFill>
                            <a:srgbClr val="0F172A"/>
                          </a:solidFill>
                        </a:defRPr>
                      </a:pPr>
                      <a:r>
                        <a:t>Normal</a:t>
                      </a:r>
                    </a:p>
                  </a:txBody>
                  <a:tcPr>
                    <a:solidFill>
                      <a:srgbClr val="FFFFFF"/>
                    </a:solidFill>
                  </a:tcPr>
                </a:tc>
                <a:tc>
                  <a:txBody>
                    <a:bodyPr/>
                    <a:lstStyle/>
                    <a:p>
                      <a:pPr algn="ctr">
                        <a:defRPr sz="850" b="0">
                          <a:solidFill>
                            <a:srgbClr val="0F172A"/>
                          </a:solidFill>
                        </a:defRPr>
                      </a:pPr>
                      <a:r>
                        <a:t>0.0468</a:t>
                      </a:r>
                    </a:p>
                  </a:txBody>
                  <a:tcPr>
                    <a:solidFill>
                      <a:srgbClr val="FFFFFF"/>
                    </a:solidFill>
                  </a:tcPr>
                </a:tc>
                <a:tc>
                  <a:txBody>
                    <a:bodyPr/>
                    <a:lstStyle/>
                    <a:p>
                      <a:pPr algn="ctr">
                        <a:defRPr sz="850" b="0">
                          <a:solidFill>
                            <a:srgbClr val="0F172A"/>
                          </a:solidFill>
                        </a:defRPr>
                      </a:pPr>
                      <a:r>
                        <a:t>0.0219</a:t>
                      </a:r>
                    </a:p>
                  </a:txBody>
                  <a:tcPr>
                    <a:solidFill>
                      <a:srgbClr val="FFFFFF"/>
                    </a:solidFill>
                  </a:tcPr>
                </a:tc>
                <a:tc>
                  <a:txBody>
                    <a:bodyPr/>
                    <a:lstStyle/>
                    <a:p>
                      <a:pPr algn="ctr">
                        <a:defRPr sz="850" b="0">
                          <a:solidFill>
                            <a:srgbClr val="0F172A"/>
                          </a:solidFill>
                        </a:defRPr>
                      </a:pPr>
                      <a:r>
                        <a:t>-0.025 (Improved)</a:t>
                      </a:r>
                    </a:p>
                  </a:txBody>
                  <a:tcPr>
                    <a:solidFill>
                      <a:srgbClr val="FFFFFF"/>
                    </a:solidFill>
                  </a:tcPr>
                </a:tc>
                <a:extLst>
                  <a:ext uri="{0D108BD9-81ED-4DB2-BD59-A6C34878D82A}">
                    <a16:rowId xmlns:a16="http://schemas.microsoft.com/office/drawing/2014/main" val="10007"/>
                  </a:ext>
                </a:extLst>
              </a:tr>
              <a:tr h="284480">
                <a:tc>
                  <a:txBody>
                    <a:bodyPr/>
                    <a:lstStyle/>
                    <a:p>
                      <a:pPr algn="ctr">
                        <a:defRPr sz="850" b="1">
                          <a:solidFill>
                            <a:srgbClr val="0F172A"/>
                          </a:solidFill>
                        </a:defRPr>
                      </a:pPr>
                      <a:r>
                        <a:t>Hausa</a:t>
                      </a:r>
                    </a:p>
                  </a:txBody>
                  <a:tcPr>
                    <a:solidFill>
                      <a:srgbClr val="F1F5F9"/>
                    </a:solidFill>
                  </a:tcPr>
                </a:tc>
                <a:tc>
                  <a:txBody>
                    <a:bodyPr/>
                    <a:lstStyle/>
                    <a:p>
                      <a:pPr algn="ctr">
                        <a:defRPr sz="850" b="1">
                          <a:solidFill>
                            <a:srgbClr val="0F172A"/>
                          </a:solidFill>
                        </a:defRPr>
                      </a:pPr>
                      <a:r>
                        <a:t>—</a:t>
                      </a:r>
                    </a:p>
                  </a:txBody>
                  <a:tcPr>
                    <a:solidFill>
                      <a:srgbClr val="F1F5F9"/>
                    </a:solidFill>
                  </a:tcPr>
                </a:tc>
                <a:tc>
                  <a:txBody>
                    <a:bodyPr/>
                    <a:lstStyle/>
                    <a:p>
                      <a:pPr algn="ctr">
                        <a:defRPr sz="850" b="1">
                          <a:solidFill>
                            <a:srgbClr val="0F172A"/>
                          </a:solidFill>
                        </a:defRPr>
                      </a:pPr>
                      <a:r>
                        <a:t>Macro Avg</a:t>
                      </a:r>
                    </a:p>
                  </a:txBody>
                  <a:tcPr>
                    <a:solidFill>
                      <a:srgbClr val="F1F5F9"/>
                    </a:solidFill>
                  </a:tcPr>
                </a:tc>
                <a:tc>
                  <a:txBody>
                    <a:bodyPr/>
                    <a:lstStyle/>
                    <a:p>
                      <a:pPr algn="ctr">
                        <a:defRPr sz="850" b="1">
                          <a:solidFill>
                            <a:srgbClr val="0F172A"/>
                          </a:solidFill>
                        </a:defRPr>
                      </a:pPr>
                      <a:r>
                        <a:t>0.0375</a:t>
                      </a:r>
                    </a:p>
                  </a:txBody>
                  <a:tcPr>
                    <a:solidFill>
                      <a:srgbClr val="F1F5F9"/>
                    </a:solidFill>
                  </a:tcPr>
                </a:tc>
                <a:tc>
                  <a:txBody>
                    <a:bodyPr/>
                    <a:lstStyle/>
                    <a:p>
                      <a:pPr algn="ctr">
                        <a:defRPr sz="850" b="1">
                          <a:solidFill>
                            <a:srgbClr val="0F172A"/>
                          </a:solidFill>
                        </a:defRPr>
                      </a:pPr>
                      <a:r>
                        <a:t>0.0230</a:t>
                      </a:r>
                    </a:p>
                  </a:txBody>
                  <a:tcPr>
                    <a:solidFill>
                      <a:srgbClr val="F1F5F9"/>
                    </a:solidFill>
                  </a:tcPr>
                </a:tc>
                <a:tc>
                  <a:txBody>
                    <a:bodyPr/>
                    <a:lstStyle/>
                    <a:p>
                      <a:pPr algn="ctr">
                        <a:defRPr sz="850" b="1">
                          <a:solidFill>
                            <a:srgbClr val="0F172A"/>
                          </a:solidFill>
                        </a:defRPr>
                      </a:pPr>
                      <a:r>
                        <a:t>-0.015 (Uniform Benefit)</a:t>
                      </a:r>
                    </a:p>
                  </a:txBody>
                  <a:tcPr>
                    <a:solidFill>
                      <a:srgbClr val="F1F5F9"/>
                    </a:solidFill>
                  </a:tcPr>
                </a:tc>
                <a:extLst>
                  <a:ext uri="{0D108BD9-81ED-4DB2-BD59-A6C34878D82A}">
                    <a16:rowId xmlns:a16="http://schemas.microsoft.com/office/drawing/2014/main" val="10008"/>
                  </a:ext>
                </a:extLst>
              </a:tr>
            </a:tbl>
          </a:graphicData>
        </a:graphic>
      </p:graphicFrame>
      <p:sp>
        <p:nvSpPr>
          <p:cNvPr id="6" name="Rectangle 5"/>
          <p:cNvSpPr/>
          <p:nvPr/>
        </p:nvSpPr>
        <p:spPr>
          <a:xfrm>
            <a:off x="7132320" y="1371600"/>
            <a:ext cx="4297680" cy="493776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DC2626"/>
                </a:solidFill>
              </a:defRPr>
            </a:pPr>
            <a:r>
              <a:t>THE MECHANISM OF THE TRAP</a:t>
            </a:r>
          </a:p>
          <a:p>
            <a:pPr>
              <a:spcBef>
                <a:spcPts val="800"/>
              </a:spcBef>
            </a:pPr>
            <a:r>
              <a:rPr sz="1000" b="1">
                <a:solidFill>
                  <a:srgbClr val="0F172A"/>
                </a:solidFill>
              </a:rPr>
              <a:t>• Why T &lt; 1.0?</a:t>
            </a:r>
            <a:r>
              <a:rPr sz="950">
                <a:solidFill>
                  <a:srgbClr val="475569"/>
                </a:solidFill>
              </a:rPr>
              <a:t> Optimal temperatures are 0.71 (Twi) and 0.79 (Hausa). T &lt; 1 divides logits by a fraction, sharpening output probabilities toward extremes.</a:t>
            </a:r>
          </a:p>
          <a:p>
            <a:pPr>
              <a:spcBef>
                <a:spcPts val="800"/>
              </a:spcBef>
            </a:pPr>
            <a:r>
              <a:rPr sz="1000" b="1">
                <a:solidFill>
                  <a:srgbClr val="0F172A"/>
                </a:solidFill>
              </a:rPr>
              <a:t>• Validation Loss Domination:</a:t>
            </a:r>
            <a:r>
              <a:rPr sz="950">
                <a:solidFill>
                  <a:srgbClr val="475569"/>
                </a:solidFill>
              </a:rPr>
              <a:t> In Twi, validation NLL is 70% Abuse instances. The optimizer fits T to satisfy majority Abuse loss.</a:t>
            </a:r>
          </a:p>
          <a:p>
            <a:pPr>
              <a:spcBef>
                <a:spcPts val="800"/>
              </a:spcBef>
            </a:pPr>
            <a:r>
              <a:rPr sz="1000" b="1">
                <a:solidFill>
                  <a:srgbClr val="0F172A"/>
                </a:solidFill>
              </a:rPr>
              <a:t>• The Minority Disaster:</a:t>
            </a:r>
            <a:r>
              <a:rPr sz="950">
                <a:solidFill>
                  <a:srgbClr val="475569"/>
                </a:solidFill>
              </a:rPr>
              <a:t> Sharpening logits concentrates probability mass on Abuse/Hate. When the model encounters a Normal post, it now misclassifies it with EVEN HIGHER confidence than before!</a:t>
            </a:r>
          </a:p>
          <a:p>
            <a:pPr>
              <a:spcBef>
                <a:spcPts val="800"/>
              </a:spcBef>
            </a:pPr>
            <a:r>
              <a:rPr sz="1000" b="1">
                <a:solidFill>
                  <a:srgbClr val="0F172A"/>
                </a:solidFill>
              </a:rPr>
              <a:t>• The Illusion of Safety:</a:t>
            </a:r>
            <a:r>
              <a:rPr sz="950">
                <a:solidFill>
                  <a:srgbClr val="475569"/>
                </a:solidFill>
              </a:rPr>
              <a:t> An ML engineer looking only at overall ECE (0.077 -&gt; 0.065) would conclude calibration succeeded. In reality, over-censorship confidence increased by 42%!</a:t>
            </a:r>
          </a:p>
        </p:txBody>
      </p:sp>
      <p:sp>
        <p:nvSpPr>
          <p:cNvPr id="7" name="Rectangle 6"/>
          <p:cNvSpPr/>
          <p:nvPr/>
        </p:nvSpPr>
        <p:spPr>
          <a:xfrm>
            <a:off x="731520" y="4206240"/>
            <a:ext cx="621792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100" b="1">
                <a:solidFill>
                  <a:srgbClr val="2563EB"/>
                </a:solidFill>
              </a:defRPr>
            </a:pPr>
            <a:r>
              <a:t>Cross-Language Contrast:</a:t>
            </a:r>
          </a:p>
          <a:p>
            <a:pPr>
              <a:spcBef>
                <a:spcPts val="400"/>
              </a:spcBef>
              <a:defRPr sz="950">
                <a:solidFill>
                  <a:srgbClr val="475569"/>
                </a:solidFill>
              </a:defRPr>
            </a:pPr>
            <a:r>
              <a:t>• Hausa's balanced distribution allows temperature scaling to work as intended: all classes improve uniformly (Macro ECE drops from 0.038 to 0.023).</a:t>
            </a:r>
            <a:br/>
            <a:r>
              <a:t>• This proves that post-hoc scaling failure is not a flaw of the language, but a direct statistical pathology of severe class imbalance interacting with scalar optimization.</a:t>
            </a:r>
            <a:br/>
            <a:r>
              <a:t>• Core Takeaway: Never deploy post-hoc calibration without auditing per-class ECE.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OPERATIONAL RISK &amp; ERROR ANALYSIS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Four in Ten Errors are Confidently Routed Away from Human Scrutiny</a:t>
            </a:r>
          </a:p>
        </p:txBody>
      </p:sp>
      <p:sp>
        <p:nvSpPr>
          <p:cNvPr id="5" name="Rectangle 4"/>
          <p:cNvSpPr/>
          <p:nvPr/>
        </p:nvSpPr>
        <p:spPr>
          <a:xfrm>
            <a:off x="731520" y="1371600"/>
            <a:ext cx="5120640" cy="4937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DC2626"/>
                </a:solidFill>
              </a:defRPr>
            </a:pPr>
            <a:r>
              <a:t>Moderator Blinding Rates (tau &gt;= 0.70)</a:t>
            </a:r>
          </a:p>
          <a:p>
            <a:pPr>
              <a:spcBef>
                <a:spcPts val="200"/>
              </a:spcBef>
              <a:defRPr sz="1000">
                <a:solidFill>
                  <a:srgbClr val="475569"/>
                </a:solidFill>
              </a:defRPr>
            </a:pPr>
            <a:r>
              <a:t>Fraction of class errors made with maximum confidence &gt;= 0.70:</a:t>
            </a:r>
          </a:p>
          <a:p>
            <a:br/>
            <a:r>
              <a:t>Operational Consequence for Twi Normal:</a:t>
            </a:r>
            <a:br/>
            <a:r>
              <a:t>• Out of 91 total Normal errors, 36 are made at &gt;= 0.70 confidence.</a:t>
            </a:r>
            <a:br/>
            <a:r>
              <a:t>• A triage system set to auto-route confident predictions would silently censor 36 innocent posts without any human review!</a:t>
            </a:r>
          </a:p>
        </p:txBody>
      </p:sp>
      <p:graphicFrame>
        <p:nvGraphicFramePr>
          <p:cNvPr id="6" name="Table 5"/>
          <p:cNvGraphicFramePr>
            <a:graphicFrameLocks noGrp="1"/>
          </p:cNvGraphicFramePr>
          <p:nvPr/>
        </p:nvGraphicFramePr>
        <p:xfrm>
          <a:off x="914400" y="2011680"/>
          <a:ext cx="4754880" cy="18288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61257">
                <a:tc>
                  <a:txBody>
                    <a:bodyPr/>
                    <a:lstStyle/>
                    <a:p>
                      <a:pPr algn="ctr">
                        <a:defRPr sz="850" b="1">
                          <a:solidFill>
                            <a:srgbClr val="FFFFFF"/>
                          </a:solidFill>
                        </a:defRPr>
                      </a:pPr>
                      <a:r>
                        <a:t>Language</a:t>
                      </a:r>
                    </a:p>
                  </a:txBody>
                  <a:tcPr>
                    <a:solidFill>
                      <a:srgbClr val="1E293B"/>
                    </a:solidFill>
                  </a:tcPr>
                </a:tc>
                <a:tc>
                  <a:txBody>
                    <a:bodyPr/>
                    <a:lstStyle/>
                    <a:p>
                      <a:pPr algn="ctr">
                        <a:defRPr sz="850" b="1">
                          <a:solidFill>
                            <a:srgbClr val="FFFFFF"/>
                          </a:solidFill>
                        </a:defRPr>
                      </a:pPr>
                      <a:r>
                        <a:t>Class</a:t>
                      </a:r>
                    </a:p>
                  </a:txBody>
                  <a:tcPr>
                    <a:solidFill>
                      <a:srgbClr val="1E293B"/>
                    </a:solidFill>
                  </a:tcPr>
                </a:tc>
                <a:tc>
                  <a:txBody>
                    <a:bodyPr/>
                    <a:lstStyle/>
                    <a:p>
                      <a:pPr algn="ctr">
                        <a:defRPr sz="850" b="1">
                          <a:solidFill>
                            <a:srgbClr val="FFFFFF"/>
                          </a:solidFill>
                        </a:defRPr>
                      </a:pPr>
                      <a:r>
                        <a:t>Total Errors</a:t>
                      </a:r>
                    </a:p>
                  </a:txBody>
                  <a:tcPr>
                    <a:solidFill>
                      <a:srgbClr val="1E293B"/>
                    </a:solidFill>
                  </a:tcPr>
                </a:tc>
                <a:tc>
                  <a:txBody>
                    <a:bodyPr/>
                    <a:lstStyle/>
                    <a:p>
                      <a:pPr algn="ctr">
                        <a:defRPr sz="850" b="1">
                          <a:solidFill>
                            <a:srgbClr val="FFFFFF"/>
                          </a:solidFill>
                        </a:defRPr>
                      </a:pPr>
                      <a:r>
                        <a:t>Blinding Rate</a:t>
                      </a:r>
                    </a:p>
                  </a:txBody>
                  <a:tcPr>
                    <a:solidFill>
                      <a:srgbClr val="1E293B"/>
                    </a:solidFill>
                  </a:tcPr>
                </a:tc>
                <a:extLst>
                  <a:ext uri="{0D108BD9-81ED-4DB2-BD59-A6C34878D82A}">
                    <a16:rowId xmlns:a16="http://schemas.microsoft.com/office/drawing/2014/main" val="10000"/>
                  </a:ext>
                </a:extLst>
              </a:tr>
              <a:tr h="261257">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11</a:t>
                      </a:r>
                    </a:p>
                  </a:txBody>
                  <a:tcPr>
                    <a:solidFill>
                      <a:srgbClr val="FFFFFF"/>
                    </a:solidFill>
                  </a:tcPr>
                </a:tc>
                <a:tc>
                  <a:txBody>
                    <a:bodyPr/>
                    <a:lstStyle/>
                    <a:p>
                      <a:pPr algn="ctr">
                        <a:defRPr sz="850" b="1">
                          <a:solidFill>
                            <a:srgbClr val="0F172A"/>
                          </a:solidFill>
                        </a:defRPr>
                      </a:pPr>
                      <a:r>
                        <a:t>45.5% (5/11)</a:t>
                      </a:r>
                    </a:p>
                  </a:txBody>
                  <a:tcPr>
                    <a:solidFill>
                      <a:srgbClr val="FFFFFF"/>
                    </a:solidFill>
                  </a:tcPr>
                </a:tc>
                <a:extLst>
                  <a:ext uri="{0D108BD9-81ED-4DB2-BD59-A6C34878D82A}">
                    <a16:rowId xmlns:a16="http://schemas.microsoft.com/office/drawing/2014/main" val="10001"/>
                  </a:ext>
                </a:extLst>
              </a:tr>
              <a:tr h="261257">
                <a:tc>
                  <a:txBody>
                    <a:bodyPr/>
                    <a:lstStyle/>
                    <a:p>
                      <a:pPr algn="ctr">
                        <a:defRPr sz="850" b="0">
                          <a:solidFill>
                            <a:srgbClr val="0F172A"/>
                          </a:solidFill>
                        </a:defRPr>
                      </a:pPr>
                      <a:r>
                        <a:t>Twi</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30</a:t>
                      </a:r>
                    </a:p>
                  </a:txBody>
                  <a:tcPr>
                    <a:solidFill>
                      <a:srgbClr val="FFFFFF"/>
                    </a:solidFill>
                  </a:tcPr>
                </a:tc>
                <a:tc>
                  <a:txBody>
                    <a:bodyPr/>
                    <a:lstStyle/>
                    <a:p>
                      <a:pPr algn="ctr">
                        <a:defRPr sz="850" b="1">
                          <a:solidFill>
                            <a:srgbClr val="0F172A"/>
                          </a:solidFill>
                        </a:defRPr>
                      </a:pPr>
                      <a:r>
                        <a:t>33.3% (10/30)</a:t>
                      </a:r>
                    </a:p>
                  </a:txBody>
                  <a:tcPr>
                    <a:solidFill>
                      <a:srgbClr val="FFFFFF"/>
                    </a:solidFill>
                  </a:tcPr>
                </a:tc>
                <a:extLst>
                  <a:ext uri="{0D108BD9-81ED-4DB2-BD59-A6C34878D82A}">
                    <a16:rowId xmlns:a16="http://schemas.microsoft.com/office/drawing/2014/main" val="10002"/>
                  </a:ext>
                </a:extLst>
              </a:tr>
              <a:tr h="261257">
                <a:tc>
                  <a:txBody>
                    <a:bodyPr/>
                    <a:lstStyle/>
                    <a:p>
                      <a:pPr algn="ctr">
                        <a:defRPr sz="850" b="1">
                          <a:solidFill>
                            <a:srgbClr val="DC2626"/>
                          </a:solidFill>
                        </a:defRPr>
                      </a:pPr>
                      <a:r>
                        <a:t>Twi</a:t>
                      </a:r>
                    </a:p>
                  </a:txBody>
                  <a:tcPr>
                    <a:solidFill>
                      <a:srgbClr val="FEF2F2"/>
                    </a:solidFill>
                  </a:tcPr>
                </a:tc>
                <a:tc>
                  <a:txBody>
                    <a:bodyPr/>
                    <a:lstStyle/>
                    <a:p>
                      <a:pPr algn="ctr">
                        <a:defRPr sz="850" b="1">
                          <a:solidFill>
                            <a:srgbClr val="DC2626"/>
                          </a:solidFill>
                        </a:defRPr>
                      </a:pPr>
                      <a:r>
                        <a:t>Normal</a:t>
                      </a:r>
                    </a:p>
                  </a:txBody>
                  <a:tcPr>
                    <a:solidFill>
                      <a:srgbClr val="FEF2F2"/>
                    </a:solidFill>
                  </a:tcPr>
                </a:tc>
                <a:tc>
                  <a:txBody>
                    <a:bodyPr/>
                    <a:lstStyle/>
                    <a:p>
                      <a:pPr algn="ctr">
                        <a:defRPr sz="850" b="1">
                          <a:solidFill>
                            <a:srgbClr val="DC2626"/>
                          </a:solidFill>
                        </a:defRPr>
                      </a:pPr>
                      <a:r>
                        <a:t>91</a:t>
                      </a:r>
                    </a:p>
                  </a:txBody>
                  <a:tcPr>
                    <a:solidFill>
                      <a:srgbClr val="FEF2F2"/>
                    </a:solidFill>
                  </a:tcPr>
                </a:tc>
                <a:tc>
                  <a:txBody>
                    <a:bodyPr/>
                    <a:lstStyle/>
                    <a:p>
                      <a:pPr algn="ctr">
                        <a:defRPr sz="850" b="1">
                          <a:solidFill>
                            <a:srgbClr val="DC2626"/>
                          </a:solidFill>
                        </a:defRPr>
                      </a:pPr>
                      <a:r>
                        <a:t>39.6% (36/91)</a:t>
                      </a:r>
                    </a:p>
                  </a:txBody>
                  <a:tcPr>
                    <a:solidFill>
                      <a:srgbClr val="FEF2F2"/>
                    </a:solidFill>
                  </a:tcPr>
                </a:tc>
                <a:extLst>
                  <a:ext uri="{0D108BD9-81ED-4DB2-BD59-A6C34878D82A}">
                    <a16:rowId xmlns:a16="http://schemas.microsoft.com/office/drawing/2014/main" val="10003"/>
                  </a:ext>
                </a:extLst>
              </a:tr>
              <a:tr h="261257">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Abuse</a:t>
                      </a:r>
                    </a:p>
                  </a:txBody>
                  <a:tcPr>
                    <a:solidFill>
                      <a:srgbClr val="FFFFFF"/>
                    </a:solidFill>
                  </a:tcPr>
                </a:tc>
                <a:tc>
                  <a:txBody>
                    <a:bodyPr/>
                    <a:lstStyle/>
                    <a:p>
                      <a:pPr algn="ctr">
                        <a:defRPr sz="850" b="0">
                          <a:solidFill>
                            <a:srgbClr val="0F172A"/>
                          </a:solidFill>
                        </a:defRPr>
                      </a:pPr>
                      <a:r>
                        <a:t>98</a:t>
                      </a:r>
                    </a:p>
                  </a:txBody>
                  <a:tcPr>
                    <a:solidFill>
                      <a:srgbClr val="FFFFFF"/>
                    </a:solidFill>
                  </a:tcPr>
                </a:tc>
                <a:tc>
                  <a:txBody>
                    <a:bodyPr/>
                    <a:lstStyle/>
                    <a:p>
                      <a:pPr algn="ctr">
                        <a:defRPr sz="850" b="1">
                          <a:solidFill>
                            <a:srgbClr val="0F172A"/>
                          </a:solidFill>
                        </a:defRPr>
                      </a:pPr>
                      <a:r>
                        <a:t>26.5% (26/98)</a:t>
                      </a:r>
                    </a:p>
                  </a:txBody>
                  <a:tcPr>
                    <a:solidFill>
                      <a:srgbClr val="FFFFFF"/>
                    </a:solidFill>
                  </a:tcPr>
                </a:tc>
                <a:extLst>
                  <a:ext uri="{0D108BD9-81ED-4DB2-BD59-A6C34878D82A}">
                    <a16:rowId xmlns:a16="http://schemas.microsoft.com/office/drawing/2014/main" val="10004"/>
                  </a:ext>
                </a:extLst>
              </a:tr>
              <a:tr h="261257">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Hate</a:t>
                      </a:r>
                    </a:p>
                  </a:txBody>
                  <a:tcPr>
                    <a:solidFill>
                      <a:srgbClr val="FFFFFF"/>
                    </a:solidFill>
                  </a:tcPr>
                </a:tc>
                <a:tc>
                  <a:txBody>
                    <a:bodyPr/>
                    <a:lstStyle/>
                    <a:p>
                      <a:pPr algn="ctr">
                        <a:defRPr sz="850" b="0">
                          <a:solidFill>
                            <a:srgbClr val="0F172A"/>
                          </a:solidFill>
                        </a:defRPr>
                      </a:pPr>
                      <a:r>
                        <a:t>48</a:t>
                      </a:r>
                    </a:p>
                  </a:txBody>
                  <a:tcPr>
                    <a:solidFill>
                      <a:srgbClr val="FFFFFF"/>
                    </a:solidFill>
                  </a:tcPr>
                </a:tc>
                <a:tc>
                  <a:txBody>
                    <a:bodyPr/>
                    <a:lstStyle/>
                    <a:p>
                      <a:pPr algn="ctr">
                        <a:defRPr sz="850" b="1">
                          <a:solidFill>
                            <a:srgbClr val="0F172A"/>
                          </a:solidFill>
                        </a:defRPr>
                      </a:pPr>
                      <a:r>
                        <a:t>31.2% (15/48)</a:t>
                      </a:r>
                    </a:p>
                  </a:txBody>
                  <a:tcPr>
                    <a:solidFill>
                      <a:srgbClr val="FFFFFF"/>
                    </a:solidFill>
                  </a:tcPr>
                </a:tc>
                <a:extLst>
                  <a:ext uri="{0D108BD9-81ED-4DB2-BD59-A6C34878D82A}">
                    <a16:rowId xmlns:a16="http://schemas.microsoft.com/office/drawing/2014/main" val="10005"/>
                  </a:ext>
                </a:extLst>
              </a:tr>
              <a:tr h="261258">
                <a:tc>
                  <a:txBody>
                    <a:bodyPr/>
                    <a:lstStyle/>
                    <a:p>
                      <a:pPr algn="ctr">
                        <a:defRPr sz="850" b="0">
                          <a:solidFill>
                            <a:srgbClr val="0F172A"/>
                          </a:solidFill>
                        </a:defRPr>
                      </a:pPr>
                      <a:r>
                        <a:t>Hausa</a:t>
                      </a:r>
                    </a:p>
                  </a:txBody>
                  <a:tcPr>
                    <a:solidFill>
                      <a:srgbClr val="FFFFFF"/>
                    </a:solidFill>
                  </a:tcPr>
                </a:tc>
                <a:tc>
                  <a:txBody>
                    <a:bodyPr/>
                    <a:lstStyle/>
                    <a:p>
                      <a:pPr algn="ctr">
                        <a:defRPr sz="850" b="0">
                          <a:solidFill>
                            <a:srgbClr val="0F172A"/>
                          </a:solidFill>
                        </a:defRPr>
                      </a:pPr>
                      <a:r>
                        <a:t>Normal</a:t>
                      </a:r>
                    </a:p>
                  </a:txBody>
                  <a:tcPr>
                    <a:solidFill>
                      <a:srgbClr val="FFFFFF"/>
                    </a:solidFill>
                  </a:tcPr>
                </a:tc>
                <a:tc>
                  <a:txBody>
                    <a:bodyPr/>
                    <a:lstStyle/>
                    <a:p>
                      <a:pPr algn="ctr">
                        <a:defRPr sz="850" b="0">
                          <a:solidFill>
                            <a:srgbClr val="0F172A"/>
                          </a:solidFill>
                        </a:defRPr>
                      </a:pPr>
                      <a:r>
                        <a:t>79</a:t>
                      </a:r>
                    </a:p>
                  </a:txBody>
                  <a:tcPr>
                    <a:solidFill>
                      <a:srgbClr val="FFFFFF"/>
                    </a:solidFill>
                  </a:tcPr>
                </a:tc>
                <a:tc>
                  <a:txBody>
                    <a:bodyPr/>
                    <a:lstStyle/>
                    <a:p>
                      <a:pPr algn="ctr">
                        <a:defRPr sz="850" b="1">
                          <a:solidFill>
                            <a:srgbClr val="0F172A"/>
                          </a:solidFill>
                        </a:defRPr>
                      </a:pPr>
                      <a:r>
                        <a:t>32.9% (26/79)</a:t>
                      </a:r>
                    </a:p>
                  </a:txBody>
                  <a:tcPr>
                    <a:solidFill>
                      <a:srgbClr val="FFFFFF"/>
                    </a:solidFill>
                  </a:tcPr>
                </a:tc>
                <a:extLst>
                  <a:ext uri="{0D108BD9-81ED-4DB2-BD59-A6C34878D82A}">
                    <a16:rowId xmlns:a16="http://schemas.microsoft.com/office/drawing/2014/main" val="10006"/>
                  </a:ext>
                </a:extLst>
              </a:tr>
            </a:tbl>
          </a:graphicData>
        </a:graphic>
      </p:graphicFrame>
      <p:sp>
        <p:nvSpPr>
          <p:cNvPr id="7" name="Rectangle 6"/>
          <p:cNvSpPr/>
          <p:nvPr/>
        </p:nvSpPr>
        <p:spPr>
          <a:xfrm>
            <a:off x="6126480" y="1371600"/>
            <a:ext cx="5303520" cy="4937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2563EB"/>
                </a:solidFill>
              </a:defRPr>
            </a:pPr>
            <a:r>
              <a:t>Confident Error Patterns (tau &gt;= 0.70)</a:t>
            </a:r>
          </a:p>
          <a:p>
            <a:pPr>
              <a:spcBef>
                <a:spcPts val="400"/>
              </a:spcBef>
              <a:defRPr sz="950">
                <a:solidFill>
                  <a:srgbClr val="0F172A"/>
                </a:solidFill>
              </a:defRPr>
            </a:pPr>
            <a:r>
              <a:t>Twi Confident Errors (51 total / 7.3% of test):</a:t>
            </a:r>
            <a:br/>
            <a:r>
              <a:t>• Normal -&gt; Hate: 18 posts (Over-censorship of harmless speech)</a:t>
            </a:r>
            <a:br/>
            <a:r>
              <a:t>• Normal -&gt; Abuse: 18 posts (Over-censorship of harmless speech)</a:t>
            </a:r>
            <a:br/>
            <a:r>
              <a:t>• Hate -&gt; Abuse: 10 posts (Between-toxic misclassification)</a:t>
            </a:r>
            <a:br/>
            <a:r>
              <a:t>• Abuse -&gt; Hate: 3 posts  |  Abuse -&gt; Normal: 2 posts</a:t>
            </a:r>
            <a:br/>
            <a:br/>
            <a:r>
              <a:t>Striking Symmetry in Twi:</a:t>
            </a:r>
            <a:br/>
            <a:r>
              <a:t>Exactly 18 Normal posts are confidently mislabeled as Hate and 18 as Abuse. The model has no stable internal representation of Normal Twi text; it arbitrarily projects innocent posts into toxic feature spaces with high confidence.</a:t>
            </a:r>
            <a:br/>
            <a:br/>
            <a:r>
              <a:t>Hausa Confident Errors (67 total / 6.4% of test):</a:t>
            </a:r>
            <a:br/>
            <a:r>
              <a:t>• Abuse -&gt; Normal: 25 posts (Under-detection)</a:t>
            </a:r>
            <a:br/>
            <a:r>
              <a:t>• Normal -&gt; Abuse: 25 posts (Over-censorship)</a:t>
            </a:r>
            <a:br/>
            <a:r>
              <a:t>• Hate -&gt; Normal: 11 posts (Critical safety miss)</a:t>
            </a:r>
            <a:br/>
            <a:r>
              <a:t>• Symmetry: 25 posts each way along the Abuse-Normal boundary.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DEPLOYMENT ANALYSIS: RISK-COVERAGE TRADE-OFFS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Workload Reduction vs. Hidden Errors Across Confidence Thresholds</a:t>
            </a:r>
          </a:p>
        </p:txBody>
      </p:sp>
      <p:graphicFrame>
        <p:nvGraphicFramePr>
          <p:cNvPr id="5" name="Table 4"/>
          <p:cNvGraphicFramePr>
            <a:graphicFrameLocks noGrp="1"/>
          </p:cNvGraphicFramePr>
          <p:nvPr/>
        </p:nvGraphicFramePr>
        <p:xfrm>
          <a:off x="731520" y="1371600"/>
          <a:ext cx="5303520" cy="2103120"/>
        </p:xfrm>
        <a:graphic>
          <a:graphicData uri="http://schemas.openxmlformats.org/drawingml/2006/table">
            <a:tbl>
              <a:tblPr firstRow="1" bandRow="1">
                <a:tableStyleId>{5C22544A-7EE6-4342-B048-85BDC9FD1C3A}</a:tableStyleId>
              </a:tblPr>
              <a:tblGrid>
                <a:gridCol w="883920">
                  <a:extLst>
                    <a:ext uri="{9D8B030D-6E8A-4147-A177-3AD203B41FA5}">
                      <a16:colId xmlns:a16="http://schemas.microsoft.com/office/drawing/2014/main" val="20000"/>
                    </a:ext>
                  </a:extLst>
                </a:gridCol>
                <a:gridCol w="883920">
                  <a:extLst>
                    <a:ext uri="{9D8B030D-6E8A-4147-A177-3AD203B41FA5}">
                      <a16:colId xmlns:a16="http://schemas.microsoft.com/office/drawing/2014/main" val="20001"/>
                    </a:ext>
                  </a:extLst>
                </a:gridCol>
                <a:gridCol w="883920">
                  <a:extLst>
                    <a:ext uri="{9D8B030D-6E8A-4147-A177-3AD203B41FA5}">
                      <a16:colId xmlns:a16="http://schemas.microsoft.com/office/drawing/2014/main" val="20002"/>
                    </a:ext>
                  </a:extLst>
                </a:gridCol>
                <a:gridCol w="883920">
                  <a:extLst>
                    <a:ext uri="{9D8B030D-6E8A-4147-A177-3AD203B41FA5}">
                      <a16:colId xmlns:a16="http://schemas.microsoft.com/office/drawing/2014/main" val="20003"/>
                    </a:ext>
                  </a:extLst>
                </a:gridCol>
                <a:gridCol w="883920">
                  <a:extLst>
                    <a:ext uri="{9D8B030D-6E8A-4147-A177-3AD203B41FA5}">
                      <a16:colId xmlns:a16="http://schemas.microsoft.com/office/drawing/2014/main" val="20004"/>
                    </a:ext>
                  </a:extLst>
                </a:gridCol>
                <a:gridCol w="883920">
                  <a:extLst>
                    <a:ext uri="{9D8B030D-6E8A-4147-A177-3AD203B41FA5}">
                      <a16:colId xmlns:a16="http://schemas.microsoft.com/office/drawing/2014/main" val="20005"/>
                    </a:ext>
                  </a:extLst>
                </a:gridCol>
              </a:tblGrid>
              <a:tr h="300445">
                <a:tc>
                  <a:txBody>
                    <a:bodyPr/>
                    <a:lstStyle/>
                    <a:p>
                      <a:pPr algn="ctr">
                        <a:defRPr sz="800" b="1">
                          <a:solidFill>
                            <a:srgbClr val="FFFFFF"/>
                          </a:solidFill>
                        </a:defRPr>
                      </a:pPr>
                      <a:r>
                        <a:t>Language</a:t>
                      </a:r>
                    </a:p>
                  </a:txBody>
                  <a:tcPr>
                    <a:solidFill>
                      <a:srgbClr val="1E293B"/>
                    </a:solidFill>
                  </a:tcPr>
                </a:tc>
                <a:tc>
                  <a:txBody>
                    <a:bodyPr/>
                    <a:lstStyle/>
                    <a:p>
                      <a:pPr algn="ctr">
                        <a:defRPr sz="800" b="1">
                          <a:solidFill>
                            <a:srgbClr val="FFFFFF"/>
                          </a:solidFill>
                        </a:defRPr>
                      </a:pPr>
                      <a:r>
                        <a:t>Threshold (tau)</a:t>
                      </a:r>
                    </a:p>
                  </a:txBody>
                  <a:tcPr>
                    <a:solidFill>
                      <a:srgbClr val="1E293B"/>
                    </a:solidFill>
                  </a:tcPr>
                </a:tc>
                <a:tc>
                  <a:txBody>
                    <a:bodyPr/>
                    <a:lstStyle/>
                    <a:p>
                      <a:pPr algn="ctr">
                        <a:defRPr sz="800" b="1">
                          <a:solidFill>
                            <a:srgbClr val="FFFFFF"/>
                          </a:solidFill>
                        </a:defRPr>
                      </a:pPr>
                      <a:r>
                        <a:t>Auto-Routed</a:t>
                      </a:r>
                    </a:p>
                  </a:txBody>
                  <a:tcPr>
                    <a:solidFill>
                      <a:srgbClr val="1E293B"/>
                    </a:solidFill>
                  </a:tcPr>
                </a:tc>
                <a:tc>
                  <a:txBody>
                    <a:bodyPr/>
                    <a:lstStyle/>
                    <a:p>
                      <a:pPr algn="ctr">
                        <a:defRPr sz="800" b="1">
                          <a:solidFill>
                            <a:srgbClr val="FFFFFF"/>
                          </a:solidFill>
                        </a:defRPr>
                      </a:pPr>
                      <a:r>
                        <a:t>Coverage</a:t>
                      </a:r>
                    </a:p>
                  </a:txBody>
                  <a:tcPr>
                    <a:solidFill>
                      <a:srgbClr val="1E293B"/>
                    </a:solidFill>
                  </a:tcPr>
                </a:tc>
                <a:tc>
                  <a:txBody>
                    <a:bodyPr/>
                    <a:lstStyle/>
                    <a:p>
                      <a:pPr algn="ctr">
                        <a:defRPr sz="800" b="1">
                          <a:solidFill>
                            <a:srgbClr val="FFFFFF"/>
                          </a:solidFill>
                        </a:defRPr>
                      </a:pPr>
                      <a:r>
                        <a:t>Precision</a:t>
                      </a:r>
                    </a:p>
                  </a:txBody>
                  <a:tcPr>
                    <a:solidFill>
                      <a:srgbClr val="1E293B"/>
                    </a:solidFill>
                  </a:tcPr>
                </a:tc>
                <a:tc>
                  <a:txBody>
                    <a:bodyPr/>
                    <a:lstStyle/>
                    <a:p>
                      <a:pPr algn="ctr">
                        <a:defRPr sz="800" b="1">
                          <a:solidFill>
                            <a:srgbClr val="FFFFFF"/>
                          </a:solidFill>
                        </a:defRPr>
                      </a:pPr>
                      <a:r>
                        <a:t>Hidden Errors</a:t>
                      </a:r>
                    </a:p>
                  </a:txBody>
                  <a:tcPr>
                    <a:solidFill>
                      <a:srgbClr val="1E293B"/>
                    </a:solidFill>
                  </a:tcPr>
                </a:tc>
                <a:extLst>
                  <a:ext uri="{0D108BD9-81ED-4DB2-BD59-A6C34878D82A}">
                    <a16:rowId xmlns:a16="http://schemas.microsoft.com/office/drawing/2014/main" val="10000"/>
                  </a:ext>
                </a:extLst>
              </a:tr>
              <a:tr h="300445">
                <a:tc>
                  <a:txBody>
                    <a:bodyPr/>
                    <a:lstStyle/>
                    <a:p>
                      <a:pPr algn="ctr">
                        <a:defRPr sz="800" b="0">
                          <a:solidFill>
                            <a:srgbClr val="0F172A"/>
                          </a:solidFill>
                        </a:defRPr>
                      </a:pPr>
                      <a:r>
                        <a:t>Twi</a:t>
                      </a:r>
                    </a:p>
                  </a:txBody>
                  <a:tcPr>
                    <a:solidFill>
                      <a:srgbClr val="FFFFFF"/>
                    </a:solidFill>
                  </a:tcPr>
                </a:tc>
                <a:tc>
                  <a:txBody>
                    <a:bodyPr/>
                    <a:lstStyle/>
                    <a:p>
                      <a:pPr algn="ctr">
                        <a:defRPr sz="800" b="0">
                          <a:solidFill>
                            <a:srgbClr val="0F172A"/>
                          </a:solidFill>
                        </a:defRPr>
                      </a:pPr>
                      <a:r>
                        <a:t>0.50</a:t>
                      </a:r>
                    </a:p>
                  </a:txBody>
                  <a:tcPr>
                    <a:solidFill>
                      <a:srgbClr val="FFFFFF"/>
                    </a:solidFill>
                  </a:tcPr>
                </a:tc>
                <a:tc>
                  <a:txBody>
                    <a:bodyPr/>
                    <a:lstStyle/>
                    <a:p>
                      <a:pPr algn="ctr">
                        <a:defRPr sz="800" b="0">
                          <a:solidFill>
                            <a:srgbClr val="0F172A"/>
                          </a:solidFill>
                        </a:defRPr>
                      </a:pPr>
                      <a:r>
                        <a:t>656 / 698</a:t>
                      </a:r>
                    </a:p>
                  </a:txBody>
                  <a:tcPr>
                    <a:solidFill>
                      <a:srgbClr val="FFFFFF"/>
                    </a:solidFill>
                  </a:tcPr>
                </a:tc>
                <a:tc>
                  <a:txBody>
                    <a:bodyPr/>
                    <a:lstStyle/>
                    <a:p>
                      <a:pPr algn="ctr">
                        <a:defRPr sz="800" b="1">
                          <a:solidFill>
                            <a:srgbClr val="0F172A"/>
                          </a:solidFill>
                        </a:defRPr>
                      </a:pPr>
                      <a:r>
                        <a:t>94.0%</a:t>
                      </a:r>
                    </a:p>
                  </a:txBody>
                  <a:tcPr>
                    <a:solidFill>
                      <a:srgbClr val="FFFFFF"/>
                    </a:solidFill>
                  </a:tcPr>
                </a:tc>
                <a:tc>
                  <a:txBody>
                    <a:bodyPr/>
                    <a:lstStyle/>
                    <a:p>
                      <a:pPr algn="ctr">
                        <a:defRPr sz="800" b="1">
                          <a:solidFill>
                            <a:srgbClr val="0F172A"/>
                          </a:solidFill>
                        </a:defRPr>
                      </a:pPr>
                      <a:r>
                        <a:t>83.2%</a:t>
                      </a:r>
                    </a:p>
                  </a:txBody>
                  <a:tcPr>
                    <a:solidFill>
                      <a:srgbClr val="FFFFFF"/>
                    </a:solidFill>
                  </a:tcPr>
                </a:tc>
                <a:tc>
                  <a:txBody>
                    <a:bodyPr/>
                    <a:lstStyle/>
                    <a:p>
                      <a:pPr algn="ctr">
                        <a:defRPr sz="800" b="1">
                          <a:solidFill>
                            <a:srgbClr val="0F172A"/>
                          </a:solidFill>
                        </a:defRPr>
                      </a:pPr>
                      <a:r>
                        <a:t>110</a:t>
                      </a:r>
                    </a:p>
                  </a:txBody>
                  <a:tcPr>
                    <a:solidFill>
                      <a:srgbClr val="FFFFFF"/>
                    </a:solidFill>
                  </a:tcPr>
                </a:tc>
                <a:extLst>
                  <a:ext uri="{0D108BD9-81ED-4DB2-BD59-A6C34878D82A}">
                    <a16:rowId xmlns:a16="http://schemas.microsoft.com/office/drawing/2014/main" val="10001"/>
                  </a:ext>
                </a:extLst>
              </a:tr>
              <a:tr h="300445">
                <a:tc>
                  <a:txBody>
                    <a:bodyPr/>
                    <a:lstStyle/>
                    <a:p>
                      <a:pPr algn="ctr">
                        <a:defRPr sz="800" b="0">
                          <a:solidFill>
                            <a:srgbClr val="0F172A"/>
                          </a:solidFill>
                        </a:defRPr>
                      </a:pPr>
                      <a:r>
                        <a:t>Twi</a:t>
                      </a:r>
                    </a:p>
                  </a:txBody>
                  <a:tcPr>
                    <a:solidFill>
                      <a:srgbClr val="FFFFFF"/>
                    </a:solidFill>
                  </a:tcPr>
                </a:tc>
                <a:tc>
                  <a:txBody>
                    <a:bodyPr/>
                    <a:lstStyle/>
                    <a:p>
                      <a:pPr algn="ctr">
                        <a:defRPr sz="800" b="0">
                          <a:solidFill>
                            <a:srgbClr val="0F172A"/>
                          </a:solidFill>
                        </a:defRPr>
                      </a:pPr>
                      <a:r>
                        <a:t>0.70</a:t>
                      </a:r>
                    </a:p>
                  </a:txBody>
                  <a:tcPr>
                    <a:solidFill>
                      <a:srgbClr val="FFFFFF"/>
                    </a:solidFill>
                  </a:tcPr>
                </a:tc>
                <a:tc>
                  <a:txBody>
                    <a:bodyPr/>
                    <a:lstStyle/>
                    <a:p>
                      <a:pPr algn="ctr">
                        <a:defRPr sz="800" b="0">
                          <a:solidFill>
                            <a:srgbClr val="0F172A"/>
                          </a:solidFill>
                        </a:defRPr>
                      </a:pPr>
                      <a:r>
                        <a:t>514 / 698</a:t>
                      </a:r>
                    </a:p>
                  </a:txBody>
                  <a:tcPr>
                    <a:solidFill>
                      <a:srgbClr val="FFFFFF"/>
                    </a:solidFill>
                  </a:tcPr>
                </a:tc>
                <a:tc>
                  <a:txBody>
                    <a:bodyPr/>
                    <a:lstStyle/>
                    <a:p>
                      <a:pPr algn="ctr">
                        <a:defRPr sz="800" b="1">
                          <a:solidFill>
                            <a:srgbClr val="0F172A"/>
                          </a:solidFill>
                        </a:defRPr>
                      </a:pPr>
                      <a:r>
                        <a:t>73.6%</a:t>
                      </a:r>
                    </a:p>
                  </a:txBody>
                  <a:tcPr>
                    <a:solidFill>
                      <a:srgbClr val="FFFFFF"/>
                    </a:solidFill>
                  </a:tcPr>
                </a:tc>
                <a:tc>
                  <a:txBody>
                    <a:bodyPr/>
                    <a:lstStyle/>
                    <a:p>
                      <a:pPr algn="ctr">
                        <a:defRPr sz="800" b="1">
                          <a:solidFill>
                            <a:srgbClr val="0F172A"/>
                          </a:solidFill>
                        </a:defRPr>
                      </a:pPr>
                      <a:r>
                        <a:t>90.1%</a:t>
                      </a:r>
                    </a:p>
                  </a:txBody>
                  <a:tcPr>
                    <a:solidFill>
                      <a:srgbClr val="FFFFFF"/>
                    </a:solidFill>
                  </a:tcPr>
                </a:tc>
                <a:tc>
                  <a:txBody>
                    <a:bodyPr/>
                    <a:lstStyle/>
                    <a:p>
                      <a:pPr algn="ctr">
                        <a:defRPr sz="800" b="1">
                          <a:solidFill>
                            <a:srgbClr val="0F172A"/>
                          </a:solidFill>
                        </a:defRPr>
                      </a:pPr>
                      <a:r>
                        <a:t>51</a:t>
                      </a:r>
                    </a:p>
                  </a:txBody>
                  <a:tcPr>
                    <a:solidFill>
                      <a:srgbClr val="FFFFFF"/>
                    </a:solidFill>
                  </a:tcPr>
                </a:tc>
                <a:extLst>
                  <a:ext uri="{0D108BD9-81ED-4DB2-BD59-A6C34878D82A}">
                    <a16:rowId xmlns:a16="http://schemas.microsoft.com/office/drawing/2014/main" val="10002"/>
                  </a:ext>
                </a:extLst>
              </a:tr>
              <a:tr h="300445">
                <a:tc>
                  <a:txBody>
                    <a:bodyPr/>
                    <a:lstStyle/>
                    <a:p>
                      <a:pPr algn="ctr">
                        <a:defRPr sz="800" b="0">
                          <a:solidFill>
                            <a:srgbClr val="0F172A"/>
                          </a:solidFill>
                        </a:defRPr>
                      </a:pPr>
                      <a:r>
                        <a:t>Twi</a:t>
                      </a:r>
                    </a:p>
                  </a:txBody>
                  <a:tcPr>
                    <a:solidFill>
                      <a:srgbClr val="F1F5F9"/>
                    </a:solidFill>
                  </a:tcPr>
                </a:tc>
                <a:tc>
                  <a:txBody>
                    <a:bodyPr/>
                    <a:lstStyle/>
                    <a:p>
                      <a:pPr algn="ctr">
                        <a:defRPr sz="800" b="0">
                          <a:solidFill>
                            <a:srgbClr val="0F172A"/>
                          </a:solidFill>
                        </a:defRPr>
                      </a:pPr>
                      <a:r>
                        <a:t>0.90</a:t>
                      </a:r>
                    </a:p>
                  </a:txBody>
                  <a:tcPr>
                    <a:solidFill>
                      <a:srgbClr val="F1F5F9"/>
                    </a:solidFill>
                  </a:tcPr>
                </a:tc>
                <a:tc>
                  <a:txBody>
                    <a:bodyPr/>
                    <a:lstStyle/>
                    <a:p>
                      <a:pPr algn="ctr">
                        <a:defRPr sz="800" b="0">
                          <a:solidFill>
                            <a:srgbClr val="0F172A"/>
                          </a:solidFill>
                        </a:defRPr>
                      </a:pPr>
                      <a:r>
                        <a:t>182 / 698</a:t>
                      </a:r>
                    </a:p>
                  </a:txBody>
                  <a:tcPr>
                    <a:solidFill>
                      <a:srgbClr val="F1F5F9"/>
                    </a:solidFill>
                  </a:tcPr>
                </a:tc>
                <a:tc>
                  <a:txBody>
                    <a:bodyPr/>
                    <a:lstStyle/>
                    <a:p>
                      <a:pPr algn="ctr">
                        <a:defRPr sz="800" b="1">
                          <a:solidFill>
                            <a:srgbClr val="0F172A"/>
                          </a:solidFill>
                        </a:defRPr>
                      </a:pPr>
                      <a:r>
                        <a:t>26.1%</a:t>
                      </a:r>
                    </a:p>
                  </a:txBody>
                  <a:tcPr>
                    <a:solidFill>
                      <a:srgbClr val="F1F5F9"/>
                    </a:solidFill>
                  </a:tcPr>
                </a:tc>
                <a:tc>
                  <a:txBody>
                    <a:bodyPr/>
                    <a:lstStyle/>
                    <a:p>
                      <a:pPr algn="ctr">
                        <a:defRPr sz="800" b="1">
                          <a:solidFill>
                            <a:srgbClr val="0F172A"/>
                          </a:solidFill>
                        </a:defRPr>
                      </a:pPr>
                      <a:r>
                        <a:t>94.5%</a:t>
                      </a:r>
                    </a:p>
                  </a:txBody>
                  <a:tcPr>
                    <a:solidFill>
                      <a:srgbClr val="F1F5F9"/>
                    </a:solidFill>
                  </a:tcPr>
                </a:tc>
                <a:tc>
                  <a:txBody>
                    <a:bodyPr/>
                    <a:lstStyle/>
                    <a:p>
                      <a:pPr algn="ctr">
                        <a:defRPr sz="800" b="1">
                          <a:solidFill>
                            <a:srgbClr val="0F172A"/>
                          </a:solidFill>
                        </a:defRPr>
                      </a:pPr>
                      <a:r>
                        <a:t>10</a:t>
                      </a:r>
                    </a:p>
                  </a:txBody>
                  <a:tcPr>
                    <a:solidFill>
                      <a:srgbClr val="F1F5F9"/>
                    </a:solidFill>
                  </a:tcPr>
                </a:tc>
                <a:extLst>
                  <a:ext uri="{0D108BD9-81ED-4DB2-BD59-A6C34878D82A}">
                    <a16:rowId xmlns:a16="http://schemas.microsoft.com/office/drawing/2014/main" val="10003"/>
                  </a:ext>
                </a:extLst>
              </a:tr>
              <a:tr h="300445">
                <a:tc>
                  <a:txBody>
                    <a:bodyPr/>
                    <a:lstStyle/>
                    <a:p>
                      <a:pPr algn="ctr">
                        <a:defRPr sz="800" b="0">
                          <a:solidFill>
                            <a:srgbClr val="0F172A"/>
                          </a:solidFill>
                        </a:defRPr>
                      </a:pPr>
                      <a:r>
                        <a:t>Hausa</a:t>
                      </a:r>
                    </a:p>
                  </a:txBody>
                  <a:tcPr>
                    <a:solidFill>
                      <a:srgbClr val="FFFFFF"/>
                    </a:solidFill>
                  </a:tcPr>
                </a:tc>
                <a:tc>
                  <a:txBody>
                    <a:bodyPr/>
                    <a:lstStyle/>
                    <a:p>
                      <a:pPr algn="ctr">
                        <a:defRPr sz="800" b="0">
                          <a:solidFill>
                            <a:srgbClr val="0F172A"/>
                          </a:solidFill>
                        </a:defRPr>
                      </a:pPr>
                      <a:r>
                        <a:t>0.50</a:t>
                      </a:r>
                    </a:p>
                  </a:txBody>
                  <a:tcPr>
                    <a:solidFill>
                      <a:srgbClr val="FFFFFF"/>
                    </a:solidFill>
                  </a:tcPr>
                </a:tc>
                <a:tc>
                  <a:txBody>
                    <a:bodyPr/>
                    <a:lstStyle/>
                    <a:p>
                      <a:pPr algn="ctr">
                        <a:defRPr sz="800" b="0">
                          <a:solidFill>
                            <a:srgbClr val="0F172A"/>
                          </a:solidFill>
                        </a:defRPr>
                      </a:pPr>
                      <a:r>
                        <a:t>971 / 1,049</a:t>
                      </a:r>
                    </a:p>
                  </a:txBody>
                  <a:tcPr>
                    <a:solidFill>
                      <a:srgbClr val="FFFFFF"/>
                    </a:solidFill>
                  </a:tcPr>
                </a:tc>
                <a:tc>
                  <a:txBody>
                    <a:bodyPr/>
                    <a:lstStyle/>
                    <a:p>
                      <a:pPr algn="ctr">
                        <a:defRPr sz="800" b="1">
                          <a:solidFill>
                            <a:srgbClr val="0F172A"/>
                          </a:solidFill>
                        </a:defRPr>
                      </a:pPr>
                      <a:r>
                        <a:t>92.6%</a:t>
                      </a:r>
                    </a:p>
                  </a:txBody>
                  <a:tcPr>
                    <a:solidFill>
                      <a:srgbClr val="FFFFFF"/>
                    </a:solidFill>
                  </a:tcPr>
                </a:tc>
                <a:tc>
                  <a:txBody>
                    <a:bodyPr/>
                    <a:lstStyle/>
                    <a:p>
                      <a:pPr algn="ctr">
                        <a:defRPr sz="800" b="1">
                          <a:solidFill>
                            <a:srgbClr val="0F172A"/>
                          </a:solidFill>
                        </a:defRPr>
                      </a:pPr>
                      <a:r>
                        <a:t>81.4%</a:t>
                      </a:r>
                    </a:p>
                  </a:txBody>
                  <a:tcPr>
                    <a:solidFill>
                      <a:srgbClr val="FFFFFF"/>
                    </a:solidFill>
                  </a:tcPr>
                </a:tc>
                <a:tc>
                  <a:txBody>
                    <a:bodyPr/>
                    <a:lstStyle/>
                    <a:p>
                      <a:pPr algn="ctr">
                        <a:defRPr sz="800" b="1">
                          <a:solidFill>
                            <a:srgbClr val="0F172A"/>
                          </a:solidFill>
                        </a:defRPr>
                      </a:pPr>
                      <a:r>
                        <a:t>181</a:t>
                      </a:r>
                    </a:p>
                  </a:txBody>
                  <a:tcPr>
                    <a:solidFill>
                      <a:srgbClr val="FFFFFF"/>
                    </a:solidFill>
                  </a:tcPr>
                </a:tc>
                <a:extLst>
                  <a:ext uri="{0D108BD9-81ED-4DB2-BD59-A6C34878D82A}">
                    <a16:rowId xmlns:a16="http://schemas.microsoft.com/office/drawing/2014/main" val="10004"/>
                  </a:ext>
                </a:extLst>
              </a:tr>
              <a:tr h="300445">
                <a:tc>
                  <a:txBody>
                    <a:bodyPr/>
                    <a:lstStyle/>
                    <a:p>
                      <a:pPr algn="ctr">
                        <a:defRPr sz="800" b="0">
                          <a:solidFill>
                            <a:srgbClr val="0F172A"/>
                          </a:solidFill>
                        </a:defRPr>
                      </a:pPr>
                      <a:r>
                        <a:t>Hausa</a:t>
                      </a:r>
                    </a:p>
                  </a:txBody>
                  <a:tcPr>
                    <a:solidFill>
                      <a:srgbClr val="FFFFFF"/>
                    </a:solidFill>
                  </a:tcPr>
                </a:tc>
                <a:tc>
                  <a:txBody>
                    <a:bodyPr/>
                    <a:lstStyle/>
                    <a:p>
                      <a:pPr algn="ctr">
                        <a:defRPr sz="800" b="0">
                          <a:solidFill>
                            <a:srgbClr val="0F172A"/>
                          </a:solidFill>
                        </a:defRPr>
                      </a:pPr>
                      <a:r>
                        <a:t>0.70</a:t>
                      </a:r>
                    </a:p>
                  </a:txBody>
                  <a:tcPr>
                    <a:solidFill>
                      <a:srgbClr val="FFFFFF"/>
                    </a:solidFill>
                  </a:tcPr>
                </a:tc>
                <a:tc>
                  <a:txBody>
                    <a:bodyPr/>
                    <a:lstStyle/>
                    <a:p>
                      <a:pPr algn="ctr">
                        <a:defRPr sz="800" b="0">
                          <a:solidFill>
                            <a:srgbClr val="0F172A"/>
                          </a:solidFill>
                        </a:defRPr>
                      </a:pPr>
                      <a:r>
                        <a:t>652 / 1,049</a:t>
                      </a:r>
                    </a:p>
                  </a:txBody>
                  <a:tcPr>
                    <a:solidFill>
                      <a:srgbClr val="FFFFFF"/>
                    </a:solidFill>
                  </a:tcPr>
                </a:tc>
                <a:tc>
                  <a:txBody>
                    <a:bodyPr/>
                    <a:lstStyle/>
                    <a:p>
                      <a:pPr algn="ctr">
                        <a:defRPr sz="800" b="1">
                          <a:solidFill>
                            <a:srgbClr val="0F172A"/>
                          </a:solidFill>
                        </a:defRPr>
                      </a:pPr>
                      <a:r>
                        <a:t>62.2%</a:t>
                      </a:r>
                    </a:p>
                  </a:txBody>
                  <a:tcPr>
                    <a:solidFill>
                      <a:srgbClr val="FFFFFF"/>
                    </a:solidFill>
                  </a:tcPr>
                </a:tc>
                <a:tc>
                  <a:txBody>
                    <a:bodyPr/>
                    <a:lstStyle/>
                    <a:p>
                      <a:pPr algn="ctr">
                        <a:defRPr sz="800" b="1">
                          <a:solidFill>
                            <a:srgbClr val="0F172A"/>
                          </a:solidFill>
                        </a:defRPr>
                      </a:pPr>
                      <a:r>
                        <a:t>89.7%</a:t>
                      </a:r>
                    </a:p>
                  </a:txBody>
                  <a:tcPr>
                    <a:solidFill>
                      <a:srgbClr val="FFFFFF"/>
                    </a:solidFill>
                  </a:tcPr>
                </a:tc>
                <a:tc>
                  <a:txBody>
                    <a:bodyPr/>
                    <a:lstStyle/>
                    <a:p>
                      <a:pPr algn="ctr">
                        <a:defRPr sz="800" b="1">
                          <a:solidFill>
                            <a:srgbClr val="0F172A"/>
                          </a:solidFill>
                        </a:defRPr>
                      </a:pPr>
                      <a:r>
                        <a:t>67</a:t>
                      </a:r>
                    </a:p>
                  </a:txBody>
                  <a:tcPr>
                    <a:solidFill>
                      <a:srgbClr val="FFFFFF"/>
                    </a:solidFill>
                  </a:tcPr>
                </a:tc>
                <a:extLst>
                  <a:ext uri="{0D108BD9-81ED-4DB2-BD59-A6C34878D82A}">
                    <a16:rowId xmlns:a16="http://schemas.microsoft.com/office/drawing/2014/main" val="10005"/>
                  </a:ext>
                </a:extLst>
              </a:tr>
              <a:tr h="300450">
                <a:tc>
                  <a:txBody>
                    <a:bodyPr/>
                    <a:lstStyle/>
                    <a:p>
                      <a:pPr algn="ctr">
                        <a:defRPr sz="800" b="0">
                          <a:solidFill>
                            <a:srgbClr val="0F172A"/>
                          </a:solidFill>
                        </a:defRPr>
                      </a:pPr>
                      <a:r>
                        <a:t>Hausa</a:t>
                      </a:r>
                    </a:p>
                  </a:txBody>
                  <a:tcPr>
                    <a:solidFill>
                      <a:srgbClr val="F1F5F9"/>
                    </a:solidFill>
                  </a:tcPr>
                </a:tc>
                <a:tc>
                  <a:txBody>
                    <a:bodyPr/>
                    <a:lstStyle/>
                    <a:p>
                      <a:pPr algn="ctr">
                        <a:defRPr sz="800" b="0">
                          <a:solidFill>
                            <a:srgbClr val="0F172A"/>
                          </a:solidFill>
                        </a:defRPr>
                      </a:pPr>
                      <a:r>
                        <a:t>0.90</a:t>
                      </a:r>
                    </a:p>
                  </a:txBody>
                  <a:tcPr>
                    <a:solidFill>
                      <a:srgbClr val="F1F5F9"/>
                    </a:solidFill>
                  </a:tcPr>
                </a:tc>
                <a:tc>
                  <a:txBody>
                    <a:bodyPr/>
                    <a:lstStyle/>
                    <a:p>
                      <a:pPr algn="ctr">
                        <a:defRPr sz="800" b="0">
                          <a:solidFill>
                            <a:srgbClr val="0F172A"/>
                          </a:solidFill>
                        </a:defRPr>
                      </a:pPr>
                      <a:r>
                        <a:t>164 / 1,049</a:t>
                      </a:r>
                    </a:p>
                  </a:txBody>
                  <a:tcPr>
                    <a:solidFill>
                      <a:srgbClr val="F1F5F9"/>
                    </a:solidFill>
                  </a:tcPr>
                </a:tc>
                <a:tc>
                  <a:txBody>
                    <a:bodyPr/>
                    <a:lstStyle/>
                    <a:p>
                      <a:pPr algn="ctr">
                        <a:defRPr sz="800" b="1">
                          <a:solidFill>
                            <a:srgbClr val="0F172A"/>
                          </a:solidFill>
                        </a:defRPr>
                      </a:pPr>
                      <a:r>
                        <a:t>15.6%</a:t>
                      </a:r>
                    </a:p>
                  </a:txBody>
                  <a:tcPr>
                    <a:solidFill>
                      <a:srgbClr val="F1F5F9"/>
                    </a:solidFill>
                  </a:tcPr>
                </a:tc>
                <a:tc>
                  <a:txBody>
                    <a:bodyPr/>
                    <a:lstStyle/>
                    <a:p>
                      <a:pPr algn="ctr">
                        <a:defRPr sz="800" b="1">
                          <a:solidFill>
                            <a:srgbClr val="0F172A"/>
                          </a:solidFill>
                        </a:defRPr>
                      </a:pPr>
                      <a:r>
                        <a:t>98.2%</a:t>
                      </a:r>
                    </a:p>
                  </a:txBody>
                  <a:tcPr>
                    <a:solidFill>
                      <a:srgbClr val="F1F5F9"/>
                    </a:solidFill>
                  </a:tcPr>
                </a:tc>
                <a:tc>
                  <a:txBody>
                    <a:bodyPr/>
                    <a:lstStyle/>
                    <a:p>
                      <a:pPr algn="ctr">
                        <a:defRPr sz="800" b="1">
                          <a:solidFill>
                            <a:srgbClr val="0F172A"/>
                          </a:solidFill>
                        </a:defRPr>
                      </a:pPr>
                      <a:r>
                        <a:t>3</a:t>
                      </a:r>
                    </a:p>
                  </a:txBody>
                  <a:tcPr>
                    <a:solidFill>
                      <a:srgbClr val="F1F5F9"/>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731520" y="3657600"/>
            <a:ext cx="5303520" cy="26517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200" b="1">
                <a:solidFill>
                  <a:srgbClr val="2563EB"/>
                </a:solidFill>
              </a:defRPr>
            </a:pPr>
            <a:r>
              <a:t>Operational Trade-off Dilemmas:</a:t>
            </a:r>
          </a:p>
          <a:p>
            <a:pPr>
              <a:spcBef>
                <a:spcPts val="400"/>
              </a:spcBef>
            </a:pPr>
            <a:r>
              <a:rPr sz="950" b="1">
                <a:solidFill>
                  <a:srgbClr val="0F172A"/>
                </a:solidFill>
              </a:rPr>
              <a:t>• Aggressive Automation (tau = 0.50):</a:t>
            </a:r>
            <a:r>
              <a:rPr sz="900">
                <a:solidFill>
                  <a:srgbClr val="475569"/>
                </a:solidFill>
              </a:rPr>
              <a:t> Reduces human workload by 93-94%, but permits 110 hidden errors in Twi and 181 in Hausa to slip past review.</a:t>
            </a:r>
          </a:p>
          <a:p>
            <a:pPr>
              <a:spcBef>
                <a:spcPts val="400"/>
              </a:spcBef>
            </a:pPr>
            <a:r>
              <a:rPr sz="950" b="1">
                <a:solidFill>
                  <a:srgbClr val="0F172A"/>
                </a:solidFill>
              </a:rPr>
              <a:t>• Moderate Tier (tau = 0.70):</a:t>
            </a:r>
            <a:r>
              <a:rPr sz="900">
                <a:solidFill>
                  <a:srgbClr val="475569"/>
                </a:solidFill>
              </a:rPr>
              <a:t> Auto-routes ~62-74% of posts with ~90% precision. However, 51 Twi errors remain hidden—36 of which are innocent speech.</a:t>
            </a:r>
          </a:p>
          <a:p>
            <a:pPr>
              <a:spcBef>
                <a:spcPts val="400"/>
              </a:spcBef>
            </a:pPr>
            <a:r>
              <a:rPr sz="950" b="1">
                <a:solidFill>
                  <a:srgbClr val="0F172A"/>
                </a:solidFill>
              </a:rPr>
              <a:t>• Conservative Tier (tau = 0.90):</a:t>
            </a:r>
            <a:r>
              <a:rPr sz="900">
                <a:solidFill>
                  <a:srgbClr val="475569"/>
                </a:solidFill>
              </a:rPr>
              <a:t> Hausa achieves 98.2% precision with only 3 hidden errors. But Twi still hides 10 errors while routing only 26% of posts automatically.</a:t>
            </a:r>
          </a:p>
        </p:txBody>
      </p:sp>
      <p:pic>
        <p:nvPicPr>
          <p:cNvPr id="7" name="Picture 6" descr="triage_risk_coverage_twi.png"/>
          <p:cNvPicPr>
            <a:picLocks noChangeAspect="1"/>
          </p:cNvPicPr>
          <p:nvPr/>
        </p:nvPicPr>
        <p:blipFill>
          <a:blip r:embed="rId3"/>
          <a:stretch>
            <a:fillRect/>
          </a:stretch>
        </p:blipFill>
        <p:spPr>
          <a:xfrm>
            <a:off x="6217920" y="1371600"/>
            <a:ext cx="2560320" cy="1463040"/>
          </a:xfrm>
          <a:prstGeom prst="rect">
            <a:avLst/>
          </a:prstGeom>
        </p:spPr>
      </p:pic>
      <p:pic>
        <p:nvPicPr>
          <p:cNvPr id="8" name="Picture 7" descr="triage_risk_coverage_hausa.png"/>
          <p:cNvPicPr>
            <a:picLocks noChangeAspect="1"/>
          </p:cNvPicPr>
          <p:nvPr/>
        </p:nvPicPr>
        <p:blipFill>
          <a:blip r:embed="rId4"/>
          <a:stretch>
            <a:fillRect/>
          </a:stretch>
        </p:blipFill>
        <p:spPr>
          <a:xfrm>
            <a:off x="8869680" y="1371600"/>
            <a:ext cx="2560320" cy="1463040"/>
          </a:xfrm>
          <a:prstGeom prst="rect">
            <a:avLst/>
          </a:prstGeom>
        </p:spPr>
      </p:pic>
      <p:sp>
        <p:nvSpPr>
          <p:cNvPr id="9" name="TextBox 8"/>
          <p:cNvSpPr txBox="1"/>
          <p:nvPr/>
        </p:nvSpPr>
        <p:spPr>
          <a:xfrm>
            <a:off x="6217920" y="5303520"/>
            <a:ext cx="5212080" cy="914400"/>
          </a:xfrm>
          <a:prstGeom prst="rect">
            <a:avLst/>
          </a:prstGeom>
          <a:noFill/>
        </p:spPr>
        <p:txBody>
          <a:bodyPr wrap="square">
            <a:spAutoFit/>
          </a:bodyPr>
          <a:lstStyle/>
          <a:p>
            <a:pPr>
              <a:defRPr sz="950" i="1">
                <a:solidFill>
                  <a:srgbClr val="475569"/>
                </a:solidFill>
              </a:defRPr>
            </a:pPr>
            <a:r>
              <a:t>Figures 4A &amp; 4B: Risk-coverage frontiers for Twi (left) and Hausa (right). Hausa's high-confidence tier is significantly cleaner, while Twi suffers persistent error leakage.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ETHICS, DATA GOVERNANCE &amp; RESPONSIBLE AI</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Safe Data Handling, Diagnostic Scope, and Transparent AI Disclosures</a:t>
            </a:r>
          </a:p>
        </p:txBody>
      </p:sp>
      <p:sp>
        <p:nvSpPr>
          <p:cNvPr id="5" name="Rectangle 4"/>
          <p:cNvSpPr/>
          <p:nvPr/>
        </p:nvSpPr>
        <p:spPr>
          <a:xfrm>
            <a:off x="731520" y="1371600"/>
            <a:ext cx="2578608" cy="4937760"/>
          </a:xfrm>
          <a:prstGeom prst="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2563EB"/>
                </a:solidFill>
              </a:defRPr>
            </a:pPr>
            <a:r>
              <a:t>1. Data Privacy &amp; Zero Redistribution</a:t>
            </a:r>
          </a:p>
          <a:p>
            <a:pPr>
              <a:spcBef>
                <a:spcPts val="400"/>
              </a:spcBef>
              <a:defRPr sz="950" b="1">
                <a:solidFill>
                  <a:srgbClr val="0F172A"/>
                </a:solidFill>
              </a:defRPr>
            </a:pPr>
            <a:r>
              <a:t>Conservative Handling Under Apache 2.0:</a:t>
            </a:r>
          </a:p>
          <a:p>
            <a:pPr>
              <a:spcBef>
                <a:spcPts val="600"/>
              </a:spcBef>
              <a:defRPr sz="950">
                <a:solidFill>
                  <a:srgbClr val="475569"/>
                </a:solidFill>
              </a:defRPr>
            </a:pPr>
            <a:r>
              <a:t>• Strict Privacy: No raw tweet text is committed to the GitHub repo, printed in notebooks, or stored in artifacts.</a:t>
            </a:r>
            <a:br/>
            <a:r>
              <a:t>• User Anonymity: No user handle tracing, re-identification, or account scraping was performed.</a:t>
            </a:r>
            <a:br/>
            <a:r>
              <a:t>• Derived Outputs Only: Only aggregate confusion matrices, ECE values, and reliability plots are published.</a:t>
            </a:r>
          </a:p>
        </p:txBody>
      </p:sp>
      <p:sp>
        <p:nvSpPr>
          <p:cNvPr id="6" name="Rectangle 5"/>
          <p:cNvSpPr/>
          <p:nvPr/>
        </p:nvSpPr>
        <p:spPr>
          <a:xfrm>
            <a:off x="3456432" y="1371600"/>
            <a:ext cx="2578608" cy="4937760"/>
          </a:xfrm>
          <a:prstGeom prst="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DC2626"/>
                </a:solidFill>
              </a:defRPr>
            </a:pPr>
            <a:r>
              <a:t>2. Diagnostic Instrument Designation</a:t>
            </a:r>
          </a:p>
          <a:p>
            <a:pPr>
              <a:spcBef>
                <a:spcPts val="400"/>
              </a:spcBef>
              <a:defRPr sz="950" b="1">
                <a:solidFill>
                  <a:srgbClr val="0F172A"/>
                </a:solidFill>
              </a:defRPr>
            </a:pPr>
            <a:r>
              <a:t>Strict Operational Boundary:</a:t>
            </a:r>
          </a:p>
          <a:p>
            <a:pPr>
              <a:spcBef>
                <a:spcPts val="600"/>
              </a:spcBef>
              <a:defRPr sz="950">
                <a:solidFill>
                  <a:srgbClr val="475569"/>
                </a:solidFill>
              </a:defRPr>
            </a:pPr>
            <a:r>
              <a:t>• Research Tool Only: These models are diagnostic instruments built to study calibration dynamics under skew.</a:t>
            </a:r>
            <a:br/>
            <a:r>
              <a:t>• NOT Deployable: These classifiers must NEVER be deployed in live moderation pipelines.</a:t>
            </a:r>
            <a:br/>
            <a:r>
              <a:t>• Harm Prevention: Live deployment in Ghana would result in severe over-censorship of harmless Twi speech.</a:t>
            </a:r>
          </a:p>
        </p:txBody>
      </p:sp>
      <p:sp>
        <p:nvSpPr>
          <p:cNvPr id="7" name="Rectangle 6"/>
          <p:cNvSpPr/>
          <p:nvPr/>
        </p:nvSpPr>
        <p:spPr>
          <a:xfrm>
            <a:off x="6181344" y="1371600"/>
            <a:ext cx="2578608" cy="4937760"/>
          </a:xfrm>
          <a:prstGeom prst="rect">
            <a:avLst/>
          </a:prstGeom>
          <a:solidFill>
            <a:srgbClr val="FEF3C7"/>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D97706"/>
                </a:solidFill>
              </a:defRPr>
            </a:pPr>
            <a:r>
              <a:t>3. Sampling &amp; Base Rate Limitations</a:t>
            </a:r>
          </a:p>
          <a:p>
            <a:pPr>
              <a:spcBef>
                <a:spcPts val="400"/>
              </a:spcBef>
              <a:defRPr sz="950" b="1">
                <a:solidFill>
                  <a:srgbClr val="0F172A"/>
                </a:solidFill>
              </a:defRPr>
            </a:pPr>
            <a:r>
              <a:t>AfriHate Benchmark Context:</a:t>
            </a:r>
          </a:p>
          <a:p>
            <a:pPr>
              <a:spcBef>
                <a:spcPts val="600"/>
              </a:spcBef>
              <a:defRPr sz="950">
                <a:solidFill>
                  <a:srgbClr val="475569"/>
                </a:solidFill>
              </a:defRPr>
            </a:pPr>
            <a:r>
              <a:t>• Keyword &amp; Handle Sampling: The dataset was compiled via targeted queries, not random sampling.</a:t>
            </a:r>
            <a:br/>
            <a:r>
              <a:t>• Not Real-World Base Rates: Class proportions (70% Abuse in Twi) reflect collection filters, not the true prevalence of toxic speech in West Africa.</a:t>
            </a:r>
            <a:br/>
            <a:r>
              <a:t>• Contextual Caveat: Findings evaluate classifier behavior on this distribution, not societal base rates.</a:t>
            </a:r>
          </a:p>
        </p:txBody>
      </p:sp>
      <p:sp>
        <p:nvSpPr>
          <p:cNvPr id="8" name="Rectangle 7"/>
          <p:cNvSpPr/>
          <p:nvPr/>
        </p:nvSpPr>
        <p:spPr>
          <a:xfrm>
            <a:off x="8906256" y="1371600"/>
            <a:ext cx="2578608" cy="4937760"/>
          </a:xfrm>
          <a:prstGeom prst="rect">
            <a:avLst/>
          </a:prstGeom>
          <a:solidFill>
            <a:srgbClr val="ECFDF5"/>
          </a:solidFill>
          <a:ln w="12700">
            <a:solidFill>
              <a:srgbClr val="A7F3D0"/>
            </a:solidFill>
          </a:ln>
        </p:spPr>
        <p:style>
          <a:lnRef idx="1">
            <a:schemeClr val="accent1"/>
          </a:lnRef>
          <a:fillRef idx="3">
            <a:schemeClr val="accent1"/>
          </a:fillRef>
          <a:effectRef idx="2">
            <a:schemeClr val="accent1"/>
          </a:effectRef>
          <a:fontRef idx="minor">
            <a:schemeClr val="lt1"/>
          </a:fontRef>
        </p:style>
        <p:txBody>
          <a:bodyPr wrap="square" lIns="164592" tIns="164592" rIns="164592" rtlCol="0" anchor="ctr"/>
          <a:lstStyle/>
          <a:p>
            <a:pPr algn="ctr">
              <a:defRPr sz="1300" b="1">
                <a:solidFill>
                  <a:srgbClr val="059669"/>
                </a:solidFill>
              </a:defRPr>
            </a:pPr>
            <a:r>
              <a:t>4. Transparent AI Disclosure</a:t>
            </a:r>
          </a:p>
          <a:p>
            <a:pPr>
              <a:spcBef>
                <a:spcPts val="400"/>
              </a:spcBef>
              <a:defRPr sz="950" b="1">
                <a:solidFill>
                  <a:srgbClr val="0F172A"/>
                </a:solidFill>
              </a:defRPr>
            </a:pPr>
            <a:r>
              <a:t>Methodological Verification:</a:t>
            </a:r>
          </a:p>
          <a:p>
            <a:pPr>
              <a:spcBef>
                <a:spcPts val="600"/>
              </a:spcBef>
              <a:defRPr sz="950">
                <a:solidFill>
                  <a:srgbClr val="475569"/>
                </a:solidFill>
              </a:defRPr>
            </a:pPr>
            <a:r>
              <a:t>• Assistance Used: Claude / Gemini used for code scaffolding, plotting utilities, and report drafting.</a:t>
            </a:r>
            <a:br/>
            <a:r>
              <a:t>• Independent Verification: 100% of numerical results, bootstrap CIs, and figures independently verified against deterministic code runs (SEED=42).</a:t>
            </a:r>
            <a:br/>
            <a:r>
              <a:t>• Integrity: No AI was used to fabricate data, citations, or labels.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2563EB"/>
                </a:solidFill>
              </a:defRPr>
            </a:pPr>
            <a:r>
              <a:t>DISCUSSION &amp; METHODOLOGICAL LIMITATIONS</a:t>
            </a:r>
          </a:p>
        </p:txBody>
      </p:sp>
      <p:sp>
        <p:nvSpPr>
          <p:cNvPr id="4" name="TextBox 3"/>
          <p:cNvSpPr txBox="1"/>
          <p:nvPr/>
        </p:nvSpPr>
        <p:spPr>
          <a:xfrm>
            <a:off x="731520" y="685800"/>
            <a:ext cx="10698480" cy="548640"/>
          </a:xfrm>
          <a:prstGeom prst="rect">
            <a:avLst/>
          </a:prstGeom>
          <a:noFill/>
        </p:spPr>
        <p:txBody>
          <a:bodyPr wrap="square" lIns="0" tIns="0" rIns="0" bIns="0">
            <a:spAutoFit/>
          </a:bodyPr>
          <a:lstStyle/>
          <a:p>
            <a:pPr>
              <a:defRPr sz="2200" b="1">
                <a:solidFill>
                  <a:srgbClr val="0F172A"/>
                </a:solidFill>
              </a:defRPr>
            </a:pPr>
            <a:r>
              <a:t>Critical Analysis of Theoretical Hypotheses and Scope Reductions</a:t>
            </a:r>
          </a:p>
        </p:txBody>
      </p:sp>
      <p:sp>
        <p:nvSpPr>
          <p:cNvPr id="5" name="Rectangle 4"/>
          <p:cNvSpPr/>
          <p:nvPr/>
        </p:nvSpPr>
        <p:spPr>
          <a:xfrm>
            <a:off x="731520" y="1371600"/>
            <a:ext cx="5257800" cy="2331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2563EB"/>
                </a:solidFill>
              </a:defRPr>
            </a:pPr>
            <a:r>
              <a:t>1. Single Model Family (Scope Reduction)</a:t>
            </a:r>
          </a:p>
          <a:p>
            <a:pPr>
              <a:spcBef>
                <a:spcPts val="300"/>
              </a:spcBef>
              <a:defRPr sz="1000" b="1">
                <a:solidFill>
                  <a:srgbClr val="0F172A"/>
                </a:solidFill>
              </a:defRPr>
            </a:pPr>
            <a:r>
              <a:t>Documented Compute Constraint:</a:t>
            </a:r>
          </a:p>
          <a:p>
            <a:pPr>
              <a:spcBef>
                <a:spcPts val="400"/>
              </a:spcBef>
              <a:defRPr sz="950">
                <a:solidFill>
                  <a:srgbClr val="475569"/>
                </a:solidFill>
              </a:defRPr>
            </a:pPr>
            <a:r>
              <a:t>• The original proposal envisioned contrasting classical models against a fine-tuned multilingual transformer (AfroXLMR).</a:t>
            </a:r>
            <a:br/>
            <a:r>
              <a:t>• Due to local CPU-only compute constraints and extreme training latency, the transformer was omitted as a documented scope cut.</a:t>
            </a:r>
            <a:br/>
            <a:r>
              <a:t>• Impact: The accuracy-vs-calibration contrast across model families remains an open question for future GPU work.</a:t>
            </a:r>
          </a:p>
        </p:txBody>
      </p:sp>
      <p:sp>
        <p:nvSpPr>
          <p:cNvPr id="6" name="Rectangle 5"/>
          <p:cNvSpPr/>
          <p:nvPr/>
        </p:nvSpPr>
        <p:spPr>
          <a:xfrm>
            <a:off x="6172200" y="1371600"/>
            <a:ext cx="5257800" cy="2331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1E3A8A"/>
                </a:solidFill>
              </a:defRPr>
            </a:pPr>
            <a:r>
              <a:t>2. Sampling Uncertainty in Small Cells</a:t>
            </a:r>
          </a:p>
          <a:p>
            <a:pPr>
              <a:spcBef>
                <a:spcPts val="300"/>
              </a:spcBef>
              <a:defRPr sz="1000" b="1">
                <a:solidFill>
                  <a:srgbClr val="0F172A"/>
                </a:solidFill>
              </a:defRPr>
            </a:pPr>
            <a:r>
              <a:t>Bootstrap Confidence Interval Width:</a:t>
            </a:r>
          </a:p>
          <a:p>
            <a:pPr>
              <a:spcBef>
                <a:spcPts val="400"/>
              </a:spcBef>
              <a:defRPr sz="950">
                <a:solidFill>
                  <a:srgbClr val="475569"/>
                </a:solidFill>
              </a:defRPr>
            </a:pPr>
            <a:r>
              <a:t>• With N=100 (Hate) and N=106 (Normal) in Twi test, bootstrap CIs are wide (Normal CI: [0.050, 0.091]).</a:t>
            </a:r>
            <a:br/>
            <a:r>
              <a:t>• Overlapping CIs mean fine-grained rank ordering between Twi Hate and Normal must be interpreted cautiously.</a:t>
            </a:r>
            <a:br/>
            <a:r>
              <a:t>• Larger test splits are necessary to tighten statistical bounds.</a:t>
            </a:r>
          </a:p>
        </p:txBody>
      </p:sp>
      <p:sp>
        <p:nvSpPr>
          <p:cNvPr id="7" name="Rectangle 6"/>
          <p:cNvSpPr/>
          <p:nvPr/>
        </p:nvSpPr>
        <p:spPr>
          <a:xfrm>
            <a:off x="731520" y="3886200"/>
            <a:ext cx="5257800" cy="2331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D97706"/>
                </a:solidFill>
              </a:defRPr>
            </a:pPr>
            <a:r>
              <a:t>3. Uniform vs Class-Conditional Scaling</a:t>
            </a:r>
          </a:p>
          <a:p>
            <a:pPr>
              <a:spcBef>
                <a:spcPts val="300"/>
              </a:spcBef>
              <a:defRPr sz="1000" b="1">
                <a:solidFill>
                  <a:srgbClr val="0F172A"/>
                </a:solidFill>
              </a:defRPr>
            </a:pPr>
            <a:r>
              <a:t>Single Scalar Limitation:</a:t>
            </a:r>
          </a:p>
          <a:p>
            <a:pPr>
              <a:spcBef>
                <a:spcPts val="400"/>
              </a:spcBef>
              <a:defRPr sz="950">
                <a:solidFill>
                  <a:srgbClr val="475569"/>
                </a:solidFill>
              </a:defRPr>
            </a:pPr>
            <a:r>
              <a:t>• We evaluated standard single-scalar temperature scaling (Guo et al., 2017).</a:t>
            </a:r>
            <a:br/>
            <a:r>
              <a:t>• The failure on Twi Normal demonstrates that a single scalar cannot reconcile inverted class gradients.</a:t>
            </a:r>
            <a:br/>
            <a:r>
              <a:t>• Future work should explore class-conditional scaling or Dirichlet calibration (Kull et al., 2019).</a:t>
            </a:r>
          </a:p>
        </p:txBody>
      </p:sp>
      <p:sp>
        <p:nvSpPr>
          <p:cNvPr id="8" name="Rectangle 7"/>
          <p:cNvSpPr/>
          <p:nvPr/>
        </p:nvSpPr>
        <p:spPr>
          <a:xfrm>
            <a:off x="6172200" y="3886200"/>
            <a:ext cx="5257800" cy="2331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300" b="1">
                <a:solidFill>
                  <a:srgbClr val="DC2626"/>
                </a:solidFill>
              </a:defRPr>
            </a:pPr>
            <a:r>
              <a:t>4. Reversal of the Rare-Class Hypothesis</a:t>
            </a:r>
          </a:p>
          <a:p>
            <a:pPr>
              <a:spcBef>
                <a:spcPts val="300"/>
              </a:spcBef>
              <a:defRPr sz="1000" b="1">
                <a:solidFill>
                  <a:srgbClr val="0F172A"/>
                </a:solidFill>
              </a:defRPr>
            </a:pPr>
            <a:r>
              <a:t>Dominant vs Rare Dynamics:</a:t>
            </a:r>
          </a:p>
          <a:p>
            <a:pPr>
              <a:spcBef>
                <a:spcPts val="400"/>
              </a:spcBef>
              <a:defRPr sz="950">
                <a:solidFill>
                  <a:srgbClr val="475569"/>
                </a:solidFill>
              </a:defRPr>
            </a:pPr>
            <a:r>
              <a:t>• We hypothesized that miscalibration would track rarity (Twi Normal &amp; Hausa Hate).</a:t>
            </a:r>
            <a:br/>
            <a:r>
              <a:t>• Instead, dominant classes exhibited higher ECE due to inflated confidence from abundant training instances.</a:t>
            </a:r>
            <a:br/>
            <a:r>
              <a:t>• However, rare classes suffer higher operational risk due to high blinding rates (39.6% on Twi Normal).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65760"/>
            <a:ext cx="10698480" cy="320040"/>
          </a:xfrm>
          <a:prstGeom prst="rect">
            <a:avLst/>
          </a:prstGeom>
          <a:noFill/>
        </p:spPr>
        <p:txBody>
          <a:bodyPr wrap="square" lIns="0" tIns="0" rIns="0" bIns="0">
            <a:spAutoFit/>
          </a:bodyPr>
          <a:lstStyle/>
          <a:p>
            <a:pPr>
              <a:defRPr sz="1000" b="1">
                <a:solidFill>
                  <a:srgbClr val="60A5FA"/>
                </a:solidFill>
              </a:defRPr>
            </a:pPr>
            <a:r>
              <a:t>CONCLUSION &amp; DEFENCE SUMMARY</a:t>
            </a:r>
          </a:p>
        </p:txBody>
      </p:sp>
      <p:sp>
        <p:nvSpPr>
          <p:cNvPr id="5" name="TextBox 4"/>
          <p:cNvSpPr txBox="1"/>
          <p:nvPr/>
        </p:nvSpPr>
        <p:spPr>
          <a:xfrm>
            <a:off x="731520" y="685800"/>
            <a:ext cx="10698480" cy="548640"/>
          </a:xfrm>
          <a:prstGeom prst="rect">
            <a:avLst/>
          </a:prstGeom>
          <a:noFill/>
        </p:spPr>
        <p:txBody>
          <a:bodyPr wrap="square" lIns="0" tIns="0" rIns="0" bIns="0">
            <a:spAutoFit/>
          </a:bodyPr>
          <a:lstStyle/>
          <a:p>
            <a:pPr>
              <a:defRPr sz="2200" b="1">
                <a:solidFill>
                  <a:srgbClr val="FFFFFF"/>
                </a:solidFill>
              </a:defRPr>
            </a:pPr>
            <a:r>
              <a:t>Key Takeaways and Recommendations for Content Moderation Systems</a:t>
            </a:r>
          </a:p>
        </p:txBody>
      </p:sp>
      <p:sp>
        <p:nvSpPr>
          <p:cNvPr id="6" name="Rectangle 5"/>
          <p:cNvSpPr/>
          <p:nvPr/>
        </p:nvSpPr>
        <p:spPr>
          <a:xfrm>
            <a:off x="731520" y="1371600"/>
            <a:ext cx="3429000" cy="3291840"/>
          </a:xfrm>
          <a:prstGeom prst="rect">
            <a:avLst/>
          </a:prstGeom>
          <a:solidFill>
            <a:srgbClr val="1E3A8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93C5FD"/>
                </a:solidFill>
              </a:defRPr>
            </a:pPr>
            <a:r>
              <a:t>RULE 1: Never Rely on Aggregate ECE</a:t>
            </a:r>
          </a:p>
          <a:p>
            <a:pPr>
              <a:spcBef>
                <a:spcPts val="800"/>
              </a:spcBef>
              <a:defRPr sz="1050">
                <a:solidFill>
                  <a:srgbClr val="F1F5F9"/>
                </a:solidFill>
              </a:defRPr>
            </a:pPr>
            <a:r>
              <a:t>A single aggregate calibration metric creates a dangerous safety illusion. On Twi, aggregate ECE dropped by -0.013 while minority Normal ECE surged by +42%. Always mandate per-class calibration reporting before deployment.</a:t>
            </a:r>
          </a:p>
        </p:txBody>
      </p:sp>
      <p:sp>
        <p:nvSpPr>
          <p:cNvPr id="7" name="Rectangle 6"/>
          <p:cNvSpPr/>
          <p:nvPr/>
        </p:nvSpPr>
        <p:spPr>
          <a:xfrm>
            <a:off x="4389120" y="1371600"/>
            <a:ext cx="3429000" cy="3291840"/>
          </a:xfrm>
          <a:prstGeom prst="rect">
            <a:avLst/>
          </a:prstGeom>
          <a:solidFill>
            <a:srgbClr val="581C87"/>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D8B4FE"/>
                </a:solidFill>
              </a:defRPr>
            </a:pPr>
            <a:r>
              <a:t>RULE 2: Audit Post-Hoc Mitigations Per Class</a:t>
            </a:r>
          </a:p>
          <a:p>
            <a:pPr>
              <a:spcBef>
                <a:spcPts val="800"/>
              </a:spcBef>
              <a:defRPr sz="1050">
                <a:solidFill>
                  <a:srgbClr val="F1F5F9"/>
                </a:solidFill>
              </a:defRPr>
            </a:pPr>
            <a:r>
              <a:t>Post-hoc temperature scaling minimizes aggregate NLL, allowing the majority class to hijack the temperature scalar. Recalibration techniques must be validated on every class independently to prevent minority degradation.</a:t>
            </a:r>
          </a:p>
        </p:txBody>
      </p:sp>
      <p:sp>
        <p:nvSpPr>
          <p:cNvPr id="8" name="Rectangle 7"/>
          <p:cNvSpPr/>
          <p:nvPr/>
        </p:nvSpPr>
        <p:spPr>
          <a:xfrm>
            <a:off x="8046720" y="1371600"/>
            <a:ext cx="3429000" cy="3291840"/>
          </a:xfrm>
          <a:prstGeom prst="rect">
            <a:avLst/>
          </a:prstGeom>
          <a:solidFill>
            <a:srgbClr val="134E4A"/>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defRPr sz="1400" b="1">
                <a:solidFill>
                  <a:srgbClr val="99F6E4"/>
                </a:solidFill>
              </a:defRPr>
            </a:pPr>
            <a:r>
              <a:t>RULE 3: Surface Blinding Rates in Triage</a:t>
            </a:r>
          </a:p>
          <a:p>
            <a:pPr>
              <a:spcBef>
                <a:spcPts val="800"/>
              </a:spcBef>
              <a:defRPr sz="1050">
                <a:solidFill>
                  <a:srgbClr val="F1F5F9"/>
                </a:solidFill>
              </a:defRPr>
            </a:pPr>
            <a:r>
              <a:t>System documentation and triage interfaces must visibly report blinding quantities. Human moderation teams must know what fraction of automated decisions conceal confident errors to calibrate review thresholds.</a:t>
            </a:r>
          </a:p>
        </p:txBody>
      </p:sp>
      <p:sp>
        <p:nvSpPr>
          <p:cNvPr id="9" name="Rectangle 8"/>
          <p:cNvSpPr/>
          <p:nvPr/>
        </p:nvSpPr>
        <p:spPr>
          <a:xfrm>
            <a:off x="731520" y="4846320"/>
            <a:ext cx="10725912" cy="1554480"/>
          </a:xfrm>
          <a:prstGeom prst="rect">
            <a:avLst/>
          </a:prstGeom>
          <a:solidFill>
            <a:srgbClr val="131E3D"/>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wrap="square" lIns="228600" tIns="164592" rIns="228600" rtlCol="0" anchor="ctr"/>
          <a:lstStyle/>
          <a:p>
            <a:pPr algn="ctr">
              <a:defRPr sz="1200" b="1">
                <a:solidFill>
                  <a:srgbClr val="93C5FD"/>
                </a:solidFill>
              </a:defRPr>
            </a:pPr>
            <a:r>
              <a:t>SUMMARY FOR ORAL DEFENCE | READY FOR EXAMINATION QUESTIONS</a:t>
            </a:r>
          </a:p>
          <a:p>
            <a:pPr>
              <a:spcBef>
                <a:spcPts val="600"/>
              </a:spcBef>
              <a:defRPr sz="1050">
                <a:solidFill>
                  <a:srgbClr val="E2E8F0"/>
                </a:solidFill>
              </a:defRPr>
            </a:pPr>
            <a:r>
              <a:t>• Investigating Twi and Hausa under inverted class distributions revealed that calibration does not simply track minority status.</a:t>
            </a:r>
            <a:br/>
            <a:r>
              <a:t>• Majority classes suffer from inflated confidence, and post-hoc temperature scaling can actively worsen minority calibration (+42% on Twi Normal).</a:t>
            </a:r>
            <a:br/>
            <a:r>
              <a:t>• Reproducible Repository: https://github.com/NEMESIS-7/CMSMM_finalproject  |  Thank you. I welcome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4752</Words>
  <Application>Microsoft Office PowerPoint</Application>
  <PresentationFormat>Widescreen</PresentationFormat>
  <Paragraphs>399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Reynolds Fenuku</cp:lastModifiedBy>
  <cp:revision>2</cp:revision>
  <dcterms:created xsi:type="dcterms:W3CDTF">2013-01-27T09:14:16Z</dcterms:created>
  <dcterms:modified xsi:type="dcterms:W3CDTF">2026-10-15T18:35:05Z</dcterms:modified>
  <cp:category/>
</cp:coreProperties>
</file>